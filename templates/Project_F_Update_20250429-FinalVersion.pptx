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"/>
  </p:notesMasterIdLst>
  <p:sldIdLst>
    <p:sldId id="21422" r:id="rId2"/>
    <p:sldId id="21423" r:id="rId3"/>
    <p:sldId id="21424" r:id="rId4"/>
  </p:sldIdLst>
  <p:sldSz cx="12192000" cy="6858000"/>
  <p:notesSz cx="6807200" cy="9939338"/>
  <p:defaultTextStyle>
    <a:defPPr>
      <a:defRPr lang="ru-RU"/>
    </a:defPPr>
    <a:lvl1pPr marL="0" algn="l" defTabSz="80432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1pPr>
    <a:lvl2pPr marL="402160" algn="l" defTabSz="80432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2pPr>
    <a:lvl3pPr marL="804320" algn="l" defTabSz="80432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3pPr>
    <a:lvl4pPr marL="1206480" algn="l" defTabSz="80432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4pPr>
    <a:lvl5pPr marL="1608641" algn="l" defTabSz="80432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5pPr>
    <a:lvl6pPr marL="2010801" algn="l" defTabSz="80432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6pPr>
    <a:lvl7pPr marL="2412960" algn="l" defTabSz="80432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7pPr>
    <a:lvl8pPr marL="2815122" algn="l" defTabSz="80432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8pPr>
    <a:lvl9pPr marL="3217282" algn="l" defTabSz="80432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A4A3A4"/>
          </p15:clr>
        </p15:guide>
        <p15:guide id="2" orient="horz" pos="51" userDrawn="1">
          <p15:clr>
            <a:srgbClr val="A4A3A4"/>
          </p15:clr>
        </p15:guide>
        <p15:guide id="3" pos="3817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  <p15:guide id="5" orient="horz" pos="4110" userDrawn="1">
          <p15:clr>
            <a:srgbClr val="A4A3A4"/>
          </p15:clr>
        </p15:guide>
        <p15:guide id="6" pos="75" userDrawn="1">
          <p15:clr>
            <a:srgbClr val="A4A3A4"/>
          </p15:clr>
        </p15:guide>
        <p15:guide id="7" pos="234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  <p15:guide id="10" pos="7423" userDrawn="1">
          <p15:clr>
            <a:srgbClr val="A4A3A4"/>
          </p15:clr>
        </p15:guide>
        <p15:guide id="11" pos="4089" userDrawn="1">
          <p15:clr>
            <a:srgbClr val="A4A3A4"/>
          </p15:clr>
        </p15:guide>
        <p15:guide id="12" orient="horz" pos="2273" userDrawn="1">
          <p15:clr>
            <a:srgbClr val="A4A3A4"/>
          </p15:clr>
        </p15:guide>
        <p15:guide id="13" orient="horz" pos="2205" userDrawn="1">
          <p15:clr>
            <a:srgbClr val="A4A3A4"/>
          </p15:clr>
        </p15:guide>
        <p15:guide id="14" pos="7355" userDrawn="1">
          <p15:clr>
            <a:srgbClr val="A4A3A4"/>
          </p15:clr>
        </p15:guide>
        <p15:guide id="15" orient="horz" pos="482" userDrawn="1">
          <p15:clr>
            <a:srgbClr val="A4A3A4"/>
          </p15:clr>
        </p15:guide>
        <p15:guide id="16" orient="horz" pos="3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FBE5D6"/>
    <a:srgbClr val="C5E0B4"/>
    <a:srgbClr val="FFFFFF"/>
    <a:srgbClr val="FF7C80"/>
    <a:srgbClr val="E6E6E6"/>
    <a:srgbClr val="C00000"/>
    <a:srgbClr val="2BA5D0"/>
    <a:srgbClr val="304655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25" autoAdjust="0"/>
    <p:restoredTop sz="91787" autoAdjust="0"/>
  </p:normalViewPr>
  <p:slideViewPr>
    <p:cSldViewPr snapToGrid="0">
      <p:cViewPr varScale="1">
        <p:scale>
          <a:sx n="110" d="100"/>
          <a:sy n="110" d="100"/>
        </p:scale>
        <p:origin x="1000" y="176"/>
      </p:cViewPr>
      <p:guideLst>
        <p:guide orient="horz" pos="1616"/>
        <p:guide orient="horz" pos="51"/>
        <p:guide pos="3817"/>
        <p:guide orient="horz" pos="3952"/>
        <p:guide orient="horz" pos="4110"/>
        <p:guide pos="75"/>
        <p:guide pos="234"/>
        <p:guide orient="horz" pos="550"/>
        <p:guide pos="7423"/>
        <p:guide pos="4089"/>
        <p:guide orient="horz" pos="2273"/>
        <p:guide orient="horz" pos="2205"/>
        <p:guide pos="7355"/>
        <p:guide orient="horz" pos="482"/>
        <p:guide orient="horz" pos="3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50CBD-067C-8D49-95C2-FEDAC8DBCCD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B779E-D45B-0B45-9E41-7E5E9EC0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70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B779E-D45B-0B45-9E41-7E5E9EC05D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57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B779E-D45B-0B45-9E41-7E5E9EC05D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54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90BCE6E-F114-2041-8DB9-3271B4C4E5C8}"/>
              </a:ext>
            </a:extLst>
          </p:cNvPr>
          <p:cNvSpPr txBox="1"/>
          <p:nvPr/>
        </p:nvSpPr>
        <p:spPr>
          <a:xfrm>
            <a:off x="-2855531" y="-1542197"/>
            <a:ext cx="0" cy="0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endParaRPr lang="fr-FR" sz="1400" b="1" dirty="0">
              <a:solidFill>
                <a:schemeClr val="tx1">
                  <a:lumMod val="75000"/>
                  <a:lumOff val="25000"/>
                  <a:alpha val="80000"/>
                </a:schemeClr>
              </a:solidFill>
            </a:endParaRP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67E8A882-19F3-E947-A3CD-E8209DCD25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BASIC SLIDE COMPOSITION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0E57537-54D1-C044-869F-26C0EE087C68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 dirty="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 dirty="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097EFA2-8355-BD45-BC05-624FBDB2228E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 dirty="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6" name="Espace réservé du texte 22">
            <a:extLst>
              <a:ext uri="{FF2B5EF4-FFF2-40B4-BE49-F238E27FC236}">
                <a16:creationId xmlns:a16="http://schemas.microsoft.com/office/drawing/2014/main" id="{F8B6C53A-280A-6746-BC3D-69994A142C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0996" y="6449466"/>
            <a:ext cx="3199887" cy="29500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793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Source :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Shikohin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Analysis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12CE7D6-AE3B-CF4B-BFA7-A3E3C75F05A2}"/>
              </a:ext>
            </a:extLst>
          </p:cNvPr>
          <p:cNvSpPr txBox="1"/>
          <p:nvPr/>
        </p:nvSpPr>
        <p:spPr>
          <a:xfrm>
            <a:off x="4112731" y="6403769"/>
            <a:ext cx="3966538" cy="408534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8043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Copyright© 2021 Shikohin, Inc. All rights reserved.</a:t>
            </a:r>
            <a:endParaRPr kumimoji="0" lang="en-US" sz="81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  <a:p>
            <a:pPr algn="ctr"/>
            <a:endParaRPr lang="en-US" sz="810" b="1" baseline="0" noProof="0" dirty="0">
              <a:solidFill>
                <a:schemeClr val="bg1">
                  <a:lumMod val="65000"/>
                </a:schemeClr>
              </a:solidFill>
              <a:latin typeface="Brow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705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0FA9FB-A6BA-AD43-B17A-3E6D7C1DCDD4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287D38D-5798-F546-AAAE-D178455CEE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BASIC SLIDE COMPOSITION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E438AA4-7DC6-424C-B339-C11671851E37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 dirty="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 dirty="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077BFF4-3638-E443-A5EB-D7810F51FED1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 dirty="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8" name="Espace réservé du texte 22">
            <a:extLst>
              <a:ext uri="{FF2B5EF4-FFF2-40B4-BE49-F238E27FC236}">
                <a16:creationId xmlns:a16="http://schemas.microsoft.com/office/drawing/2014/main" id="{93398529-F411-7341-9172-76CFF0F5B66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0996" y="6449466"/>
            <a:ext cx="3199887" cy="29500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8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Source :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Shikohin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Analysis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894EDFD-4D89-6946-AB42-99A4BA929E32}"/>
              </a:ext>
            </a:extLst>
          </p:cNvPr>
          <p:cNvSpPr txBox="1"/>
          <p:nvPr/>
        </p:nvSpPr>
        <p:spPr>
          <a:xfrm>
            <a:off x="4914789" y="6528122"/>
            <a:ext cx="0" cy="0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8043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800" b="1" dirty="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Brown" pitchFamily="2" charset="77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67ECF1-D872-764E-A916-4A4ABCC6977D}"/>
              </a:ext>
            </a:extLst>
          </p:cNvPr>
          <p:cNvSpPr txBox="1"/>
          <p:nvPr/>
        </p:nvSpPr>
        <p:spPr>
          <a:xfrm>
            <a:off x="3443942" y="5238893"/>
            <a:ext cx="1607735" cy="563766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endParaRPr lang="fr-FR" sz="1400" b="1" dirty="0">
              <a:solidFill>
                <a:schemeClr val="tx1">
                  <a:lumMod val="75000"/>
                  <a:lumOff val="25000"/>
                  <a:alpha val="80000"/>
                </a:schemeClr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999ACA-8A59-6344-BAB5-74813BBB1D08}"/>
              </a:ext>
            </a:extLst>
          </p:cNvPr>
          <p:cNvSpPr txBox="1"/>
          <p:nvPr/>
        </p:nvSpPr>
        <p:spPr>
          <a:xfrm>
            <a:off x="4112731" y="6429146"/>
            <a:ext cx="3966538" cy="408534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8043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1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Copyright© 2021 Shikohin, Inc. All </a:t>
            </a:r>
            <a:r>
              <a:rPr kumimoji="0" lang="fr-FR" sz="81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rights</a:t>
            </a:r>
            <a:r>
              <a:rPr kumimoji="0" lang="fr-FR" sz="81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fr-FR" sz="81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reserved</a:t>
            </a:r>
            <a:r>
              <a:rPr kumimoji="0" lang="fr-FR" sz="81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</a:t>
            </a:r>
            <a:endParaRPr kumimoji="0" lang="fr-FR" sz="81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  <a:p>
            <a:pPr algn="ctr"/>
            <a:endParaRPr lang="fr-FR" sz="810" b="1" baseline="0" dirty="0">
              <a:solidFill>
                <a:schemeClr val="bg1">
                  <a:lumMod val="65000"/>
                </a:schemeClr>
              </a:solidFill>
              <a:latin typeface="Brow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2490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7">
            <a:extLst>
              <a:ext uri="{FF2B5EF4-FFF2-40B4-BE49-F238E27FC236}">
                <a16:creationId xmlns:a16="http://schemas.microsoft.com/office/drawing/2014/main" id="{E34CFA33-CABA-754F-867D-69BFF1280EBA}"/>
              </a:ext>
            </a:extLst>
          </p:cNvPr>
          <p:cNvSpPr txBox="1">
            <a:spLocks/>
          </p:cNvSpPr>
          <p:nvPr/>
        </p:nvSpPr>
        <p:spPr>
          <a:xfrm>
            <a:off x="609600" y="75072"/>
            <a:ext cx="3689534" cy="468996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marR="0" indent="0" algn="l" defTabSz="906876" rtl="0" eaLnBrk="1" fontAlgn="auto" latinLnBrk="0" hangingPunct="1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800" b="0" kern="1200" spc="300" baseline="0">
                <a:solidFill>
                  <a:schemeClr val="tx1">
                    <a:alpha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0" indent="0" algn="ctr" defTabSz="447247" rtl="0" eaLnBrk="1" latinLnBrk="0" hangingPunct="1">
              <a:lnSpc>
                <a:spcPct val="100000"/>
              </a:lnSpc>
              <a:spcBef>
                <a:spcPts val="496"/>
              </a:spcBef>
              <a:buSzPct val="100000"/>
              <a:buFontTx/>
              <a:buNone/>
              <a:defRPr sz="2800" b="1" kern="1200" baseline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ctr" defTabSz="447247" rtl="0" eaLnBrk="1" latinLnBrk="0" hangingPunct="1">
              <a:lnSpc>
                <a:spcPct val="150000"/>
              </a:lnSpc>
              <a:spcBef>
                <a:spcPts val="496"/>
              </a:spcBef>
              <a:buSzPct val="100000"/>
              <a:buFontTx/>
              <a:buNone/>
              <a:defRPr sz="1003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ctr" defTabSz="906876" rtl="0" eaLnBrk="1" latinLnBrk="0" hangingPunct="1">
              <a:lnSpc>
                <a:spcPct val="150000"/>
              </a:lnSpc>
              <a:spcBef>
                <a:spcPts val="496"/>
              </a:spcBef>
              <a:buSzPct val="100000"/>
              <a:buFontTx/>
              <a:buNone/>
              <a:defRPr sz="1800" b="1" kern="120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ctr" defTabSz="906876" rtl="0" eaLnBrk="1" latinLnBrk="0" hangingPunct="1">
              <a:lnSpc>
                <a:spcPct val="100000"/>
              </a:lnSpc>
              <a:spcBef>
                <a:spcPts val="496"/>
              </a:spcBef>
              <a:buSzPct val="100000"/>
              <a:buFontTx/>
              <a:buNone/>
              <a:defRPr sz="1200" b="1" kern="1200" baseline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906876" rtl="0" eaLnBrk="1" latinLnBrk="0" hangingPunct="1">
              <a:lnSpc>
                <a:spcPct val="100000"/>
              </a:lnSpc>
              <a:spcBef>
                <a:spcPts val="496"/>
              </a:spcBef>
              <a:buFontTx/>
              <a:buNone/>
              <a:defRPr sz="900" b="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06876" rtl="0" eaLnBrk="1" latinLnBrk="0" hangingPunct="1">
              <a:lnSpc>
                <a:spcPct val="100000"/>
              </a:lnSpc>
              <a:spcBef>
                <a:spcPts val="496"/>
              </a:spcBef>
              <a:buFontTx/>
              <a:buNone/>
              <a:defRPr sz="800" b="0" kern="1200" baseline="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06876" rtl="0" eaLnBrk="1" fontAlgn="auto" latinLnBrk="0" hangingPunct="1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2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9058" indent="0" algn="l" defTabSz="906876" rtl="0" eaLnBrk="1" latinLnBrk="0" hangingPunct="1">
              <a:lnSpc>
                <a:spcPct val="90000"/>
              </a:lnSpc>
              <a:spcBef>
                <a:spcPts val="496"/>
              </a:spcBef>
              <a:buFont typeface="Arial" panose="020B0604020202020204" pitchFamily="34" charset="0"/>
              <a:buNone/>
              <a:defRPr sz="17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58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2031D6-F300-8147-BDFE-84642A428496}"/>
              </a:ext>
            </a:extLst>
          </p:cNvPr>
          <p:cNvSpPr/>
          <p:nvPr/>
        </p:nvSpPr>
        <p:spPr bwMode="auto">
          <a:xfrm>
            <a:off x="609600" y="609902"/>
            <a:ext cx="10991850" cy="5638192"/>
          </a:xfrm>
          <a:prstGeom prst="rect">
            <a:avLst/>
          </a:prstGeom>
          <a:solidFill>
            <a:srgbClr val="729AA1"/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A7B50109-1AE1-254D-AB6A-D83F7EBA91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56784" y="2004172"/>
            <a:ext cx="7598833" cy="28496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 sz="4604" b="1" i="0" baseline="0">
                <a:solidFill>
                  <a:schemeClr val="bg1"/>
                </a:solidFill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604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1 </a:t>
            </a:r>
            <a:r>
              <a:rPr kumimoji="0" lang="fr-FR" sz="4604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  <a:endParaRPr kumimoji="0" lang="fr-FR" sz="4604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604" b="1" i="0" u="none" strike="noStrike" kern="1200" cap="none" spc="0" normalizeH="0" baseline="0" noProof="0" dirty="0">
                <a:ln>
                  <a:noFill/>
                </a:ln>
                <a:solidFill>
                  <a:srgbClr val="9DBBBF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2 </a:t>
            </a:r>
            <a:r>
              <a:rPr kumimoji="0" lang="fr-FR" sz="4604" b="1" i="0" u="none" strike="noStrike" kern="1200" cap="none" spc="0" normalizeH="0" baseline="0" noProof="0" dirty="0" err="1">
                <a:ln>
                  <a:noFill/>
                </a:ln>
                <a:solidFill>
                  <a:srgbClr val="9DBBBF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  <a:endParaRPr kumimoji="0" lang="fr-FR" sz="4604" b="1" i="0" u="none" strike="noStrike" kern="1200" cap="none" spc="0" normalizeH="0" baseline="0" noProof="0" dirty="0">
              <a:ln>
                <a:noFill/>
              </a:ln>
              <a:solidFill>
                <a:srgbClr val="9DBBBF"/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604" b="1" i="0" u="none" strike="noStrike" kern="1200" cap="none" spc="0" normalizeH="0" baseline="0" noProof="0" dirty="0">
                <a:ln>
                  <a:noFill/>
                </a:ln>
                <a:solidFill>
                  <a:srgbClr val="9DBBBF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3 </a:t>
            </a:r>
            <a:r>
              <a:rPr kumimoji="0" lang="fr-FR" sz="4604" b="1" i="0" u="none" strike="noStrike" kern="1200" cap="none" spc="0" normalizeH="0" baseline="0" noProof="0" dirty="0" err="1">
                <a:ln>
                  <a:noFill/>
                </a:ln>
                <a:solidFill>
                  <a:srgbClr val="9DBBBF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  <a:endParaRPr kumimoji="0" lang="fr-FR" sz="4604" b="1" i="0" u="none" strike="noStrike" kern="1200" cap="none" spc="0" normalizeH="0" baseline="0" noProof="0" dirty="0">
              <a:ln>
                <a:noFill/>
              </a:ln>
              <a:solidFill>
                <a:srgbClr val="9DBBBF"/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A7C7750-5553-0C47-8A12-77A81DD8F1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MENU SLIDE COMPOSITION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C12389E-0E3A-B447-88A5-06B3FE094C34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 dirty="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 dirty="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01FF302-81F8-1F4B-AB22-6F0E6C6D9F8B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8" name="Espace réservé du texte 22">
            <a:extLst>
              <a:ext uri="{FF2B5EF4-FFF2-40B4-BE49-F238E27FC236}">
                <a16:creationId xmlns:a16="http://schemas.microsoft.com/office/drawing/2014/main" id="{797DD30F-1249-2449-90F9-3502409A67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0996" y="6449466"/>
            <a:ext cx="3199887" cy="29500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800" b="0" i="0" baseline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3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Source : Shikohin Analysis</a:t>
            </a:r>
            <a:endParaRPr kumimoji="0" lang="en-US" sz="1083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4B6F7B3-9CD4-DC49-A0CC-E2C9E6347C3C}"/>
              </a:ext>
            </a:extLst>
          </p:cNvPr>
          <p:cNvSpPr txBox="1"/>
          <p:nvPr/>
        </p:nvSpPr>
        <p:spPr>
          <a:xfrm>
            <a:off x="4112731" y="6403769"/>
            <a:ext cx="3966538" cy="408534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8043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1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Copyright© 2021 Shikohin, Inc. All rights reserved.</a:t>
            </a:r>
            <a:endParaRPr kumimoji="0" lang="en-US" sz="81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  <a:p>
            <a:pPr algn="ctr"/>
            <a:endParaRPr lang="en-US" sz="810" b="1" baseline="0" noProof="0" dirty="0">
              <a:solidFill>
                <a:schemeClr val="bg1">
                  <a:lumMod val="65000"/>
                </a:schemeClr>
              </a:solidFill>
              <a:latin typeface="Brow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1042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14EA1AD-D8CB-6340-9D44-5B64DAD53D32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18" name="Espace réservé pour une image  17">
            <a:extLst>
              <a:ext uri="{FF2B5EF4-FFF2-40B4-BE49-F238E27FC236}">
                <a16:creationId xmlns:a16="http://schemas.microsoft.com/office/drawing/2014/main" id="{FC33C637-B84B-6A46-BB46-1569EB9AB8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31233"/>
            <a:ext cx="10991850" cy="2282473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FB8DA433-69CC-D247-B1EC-4DE1C6E867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96388" y="4346830"/>
            <a:ext cx="1998133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1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DDB4E752-F179-2B42-A66A-39BDADD5F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96535" y="4977630"/>
            <a:ext cx="1998133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089" b="0" i="0" baseline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Excepteur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sint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occaecat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cupidatat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non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proident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sunt in culpa qui.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Espace réservé du texte 20">
            <a:extLst>
              <a:ext uri="{FF2B5EF4-FFF2-40B4-BE49-F238E27FC236}">
                <a16:creationId xmlns:a16="http://schemas.microsoft.com/office/drawing/2014/main" id="{EE72D457-19C0-6B48-BB00-C0C6BB1401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91076" y="3385974"/>
            <a:ext cx="3338676" cy="644892"/>
          </a:xfrm>
          <a:prstGeom prst="rect">
            <a:avLst/>
          </a:prstGeom>
        </p:spPr>
        <p:txBody>
          <a:bodyPr/>
          <a:lstStyle>
            <a:lvl1pPr marL="0" marR="0" indent="0" algn="ctr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9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75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Main Title</a:t>
            </a:r>
          </a:p>
        </p:txBody>
      </p:sp>
      <p:sp>
        <p:nvSpPr>
          <p:cNvPr id="31" name="Espace réservé du texte 20">
            <a:extLst>
              <a:ext uri="{FF2B5EF4-FFF2-40B4-BE49-F238E27FC236}">
                <a16:creationId xmlns:a16="http://schemas.microsoft.com/office/drawing/2014/main" id="{A697D815-2678-E04F-910B-AD39C1DFD2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1076" y="3059960"/>
            <a:ext cx="3338676" cy="295635"/>
          </a:xfrm>
          <a:prstGeom prst="rect">
            <a:avLst/>
          </a:prstGeom>
        </p:spPr>
        <p:txBody>
          <a:bodyPr/>
          <a:lstStyle>
            <a:lvl1pPr marL="0" marR="0" indent="0" algn="ctr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6" spc="33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0" i="0" u="none" strike="noStrike" kern="1200" cap="none" spc="325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SUBTITLE</a:t>
            </a:r>
          </a:p>
        </p:txBody>
      </p:sp>
      <p:sp>
        <p:nvSpPr>
          <p:cNvPr id="16" name="Espace réservé du texte 20">
            <a:extLst>
              <a:ext uri="{FF2B5EF4-FFF2-40B4-BE49-F238E27FC236}">
                <a16:creationId xmlns:a16="http://schemas.microsoft.com/office/drawing/2014/main" id="{BEC32C8C-CB48-AE40-83DE-A48B960A8C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5709" y="4331592"/>
            <a:ext cx="1998133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2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17" name="Espace réservé du texte 22">
            <a:extLst>
              <a:ext uri="{FF2B5EF4-FFF2-40B4-BE49-F238E27FC236}">
                <a16:creationId xmlns:a16="http://schemas.microsoft.com/office/drawing/2014/main" id="{21DBDBA7-EFE3-3643-B198-97D33FD3F01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75854" y="4962392"/>
            <a:ext cx="1998133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089" b="0" i="0" baseline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Excepteur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sint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occaecat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cupidatat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non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proident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sunt in culpa qui.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Espace réservé du texte 20">
            <a:extLst>
              <a:ext uri="{FF2B5EF4-FFF2-40B4-BE49-F238E27FC236}">
                <a16:creationId xmlns:a16="http://schemas.microsoft.com/office/drawing/2014/main" id="{CF473F08-3C42-A343-9C34-FE620B47F7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9789" y="4331592"/>
            <a:ext cx="1998133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3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20" name="Espace réservé du texte 22">
            <a:extLst>
              <a:ext uri="{FF2B5EF4-FFF2-40B4-BE49-F238E27FC236}">
                <a16:creationId xmlns:a16="http://schemas.microsoft.com/office/drawing/2014/main" id="{7811E5D1-2977-D841-B4AD-7536B71026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9934" y="4962392"/>
            <a:ext cx="1998133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089" b="0" i="0" baseline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Excepteur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sint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occaecat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cupidatat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non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proident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sunt in culpa qui.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Espace réservé du texte 20">
            <a:extLst>
              <a:ext uri="{FF2B5EF4-FFF2-40B4-BE49-F238E27FC236}">
                <a16:creationId xmlns:a16="http://schemas.microsoft.com/office/drawing/2014/main" id="{8089B952-91E1-6343-B729-0CDEC1EA25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98122" y="4321100"/>
            <a:ext cx="1998133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4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33" name="Espace réservé du texte 22">
            <a:extLst>
              <a:ext uri="{FF2B5EF4-FFF2-40B4-BE49-F238E27FC236}">
                <a16:creationId xmlns:a16="http://schemas.microsoft.com/office/drawing/2014/main" id="{2C8A4EFA-D0C9-FF42-967B-7AD945FEA6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8268" y="4951900"/>
            <a:ext cx="1998133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089" b="0" i="0" baseline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Excepteur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sint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occaecat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cupidatat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non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proident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sunt in culpa qui.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D8E1FA4C-9829-064A-90D3-B52B379C0C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BASIC SLIDE COMPOSITION 1 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3D1C5E1-7D2F-FE42-9AE2-B5F7F725310E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BF5A47D-487D-3A48-BD5F-AE050F61AB87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40836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28DB29-D920-A541-943C-70429626C30B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22" name="Espace réservé du texte 20">
            <a:extLst>
              <a:ext uri="{FF2B5EF4-FFF2-40B4-BE49-F238E27FC236}">
                <a16:creationId xmlns:a16="http://schemas.microsoft.com/office/drawing/2014/main" id="{87E07DCF-DA3B-A546-997D-874DD73A3F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71948" y="1631974"/>
            <a:ext cx="3338676" cy="644892"/>
          </a:xfrm>
          <a:prstGeom prst="rect">
            <a:avLst/>
          </a:prstGeom>
        </p:spPr>
        <p:txBody>
          <a:bodyPr/>
          <a:lstStyle>
            <a:lvl1pPr marL="0" marR="0" indent="0" algn="ctr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9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75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Catchy Main Title</a:t>
            </a:r>
          </a:p>
        </p:txBody>
      </p:sp>
      <p:sp>
        <p:nvSpPr>
          <p:cNvPr id="23" name="Espace réservé du texte 20">
            <a:extLst>
              <a:ext uri="{FF2B5EF4-FFF2-40B4-BE49-F238E27FC236}">
                <a16:creationId xmlns:a16="http://schemas.microsoft.com/office/drawing/2014/main" id="{A818C5A5-3CA9-144C-995E-44FC2BA7B6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1948" y="1305960"/>
            <a:ext cx="3338676" cy="295635"/>
          </a:xfrm>
          <a:prstGeom prst="rect">
            <a:avLst/>
          </a:prstGeom>
        </p:spPr>
        <p:txBody>
          <a:bodyPr/>
          <a:lstStyle>
            <a:lvl1pPr marL="0" marR="0" indent="0" algn="ctr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6" spc="33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0" i="0" u="none" strike="noStrike" kern="1200" cap="none" spc="325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SUBTITLE</a:t>
            </a:r>
          </a:p>
        </p:txBody>
      </p:sp>
      <p:sp>
        <p:nvSpPr>
          <p:cNvPr id="24" name="Espace réservé du texte 20">
            <a:extLst>
              <a:ext uri="{FF2B5EF4-FFF2-40B4-BE49-F238E27FC236}">
                <a16:creationId xmlns:a16="http://schemas.microsoft.com/office/drawing/2014/main" id="{D68AEC5A-8528-B046-BB65-8853040D51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96388" y="2777882"/>
            <a:ext cx="1998133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1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C7A49855-3B4D-2F4D-923A-0EB6ED60DD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96535" y="3408682"/>
            <a:ext cx="1998133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089" b="0" i="0" baseline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Excepteur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sint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occaecat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cupidatat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non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proident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sunt in culpa qui.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Espace réservé du texte 20">
            <a:extLst>
              <a:ext uri="{FF2B5EF4-FFF2-40B4-BE49-F238E27FC236}">
                <a16:creationId xmlns:a16="http://schemas.microsoft.com/office/drawing/2014/main" id="{ACEDBFC0-0504-3144-9C9D-A8CDECEBAF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5709" y="2762644"/>
            <a:ext cx="1998133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2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8FB4CAD1-DE19-1742-BF82-5F66829A7A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75854" y="3393444"/>
            <a:ext cx="1998133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089" b="0" i="0" baseline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Excepteur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sint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occaecat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cupidatat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non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proident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sunt in culpa qui.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Espace réservé du texte 20">
            <a:extLst>
              <a:ext uri="{FF2B5EF4-FFF2-40B4-BE49-F238E27FC236}">
                <a16:creationId xmlns:a16="http://schemas.microsoft.com/office/drawing/2014/main" id="{7DDCB3F2-0D0B-6C49-A1CA-5AC6C71DB7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9789" y="2762644"/>
            <a:ext cx="1998133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3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5D6C4BDE-62DF-1548-BD0F-E00F3DAD3C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9934" y="3393444"/>
            <a:ext cx="1998133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089" b="0" i="0" baseline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Excepteur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sint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occaecat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cupidatat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non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proident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sunt in culpa qui.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Espace réservé du texte 20">
            <a:extLst>
              <a:ext uri="{FF2B5EF4-FFF2-40B4-BE49-F238E27FC236}">
                <a16:creationId xmlns:a16="http://schemas.microsoft.com/office/drawing/2014/main" id="{851076BF-C069-5D44-B9B1-568A643892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98122" y="2752153"/>
            <a:ext cx="1998133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4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31" name="Espace réservé du texte 22">
            <a:extLst>
              <a:ext uri="{FF2B5EF4-FFF2-40B4-BE49-F238E27FC236}">
                <a16:creationId xmlns:a16="http://schemas.microsoft.com/office/drawing/2014/main" id="{77E38AC8-0065-EF45-B6CA-4141CDCE8DC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8268" y="3382953"/>
            <a:ext cx="1998133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089" b="0" i="0" baseline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Excepteur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sint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occaecat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cupidatat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non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proident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sunt in culpa qui.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Espace réservé du texte 5">
            <a:extLst>
              <a:ext uri="{FF2B5EF4-FFF2-40B4-BE49-F238E27FC236}">
                <a16:creationId xmlns:a16="http://schemas.microsoft.com/office/drawing/2014/main" id="{DEF4B065-8EB6-D24E-A66F-8626CC6CA20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BASIC SLIDE COMPOSITION 2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41EEDD1-305A-E64C-947A-7E3A6E89C849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14826DE-8257-D946-968A-6700F90169C8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643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4EDE63C-70C5-A045-A51A-FD25307149DA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20" name="Espace réservé du texte 20">
            <a:extLst>
              <a:ext uri="{FF2B5EF4-FFF2-40B4-BE49-F238E27FC236}">
                <a16:creationId xmlns:a16="http://schemas.microsoft.com/office/drawing/2014/main" id="{33A4913F-CE8E-2F4B-9899-8D2E0AEE1F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1948" y="1305960"/>
            <a:ext cx="3338676" cy="295635"/>
          </a:xfrm>
          <a:prstGeom prst="rect">
            <a:avLst/>
          </a:prstGeom>
        </p:spPr>
        <p:txBody>
          <a:bodyPr/>
          <a:lstStyle>
            <a:lvl1pPr marL="0" marR="0" indent="0" algn="ctr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6" spc="33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0" i="0" u="none" strike="noStrike" kern="1200" cap="none" spc="325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SUBTITLE</a:t>
            </a:r>
          </a:p>
        </p:txBody>
      </p:sp>
      <p:sp>
        <p:nvSpPr>
          <p:cNvPr id="28" name="Espace réservé du texte 20">
            <a:extLst>
              <a:ext uri="{FF2B5EF4-FFF2-40B4-BE49-F238E27FC236}">
                <a16:creationId xmlns:a16="http://schemas.microsoft.com/office/drawing/2014/main" id="{1E0D2510-88C6-704E-B12F-109059DF5B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4685" y="2001113"/>
            <a:ext cx="2826759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1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27BF3265-0825-444C-852A-4A21D1778B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4830" y="2631914"/>
            <a:ext cx="2826759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b="0" i="0">
                <a:effectLst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Lorem ipsum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dolor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sit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amet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consectetur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adipiscing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elit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sed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do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eiusmod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tempor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incididunt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ut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labore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et dolore magna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aliqua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 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Espace réservé du texte 20">
            <a:extLst>
              <a:ext uri="{FF2B5EF4-FFF2-40B4-BE49-F238E27FC236}">
                <a16:creationId xmlns:a16="http://schemas.microsoft.com/office/drawing/2014/main" id="{25B04607-7904-CF46-9BE2-66415BE59AA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3946" y="2001113"/>
            <a:ext cx="2826759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2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32" name="Espace réservé du texte 22">
            <a:extLst>
              <a:ext uri="{FF2B5EF4-FFF2-40B4-BE49-F238E27FC236}">
                <a16:creationId xmlns:a16="http://schemas.microsoft.com/office/drawing/2014/main" id="{D5E6DCAB-13EA-AC4D-81F5-F7D59B529E0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54091" y="2631914"/>
            <a:ext cx="2826759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b="0" i="0">
                <a:effectLst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Lorem ipsum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dolor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sit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amet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consectetur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adipiscing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elit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sed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do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eiusmod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tempor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incididunt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ut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labore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et dolore magna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aliqua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 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Espace réservé du texte 20">
            <a:extLst>
              <a:ext uri="{FF2B5EF4-FFF2-40B4-BE49-F238E27FC236}">
                <a16:creationId xmlns:a16="http://schemas.microsoft.com/office/drawing/2014/main" id="{D90CA43A-6A0E-874D-AB05-C8110377B7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33208" y="2001113"/>
            <a:ext cx="2826759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3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5122A7F6-D372-5F45-8D2D-1D57A225B62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633353" y="2631914"/>
            <a:ext cx="2826759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b="0" i="0">
                <a:effectLst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Lorem ipsum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dolor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sit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amet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consectetur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adipiscing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elit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sed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do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eiusmod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tempor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incididunt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ut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labore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et dolore magna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aliqua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 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Espace réservé du texte 20">
            <a:extLst>
              <a:ext uri="{FF2B5EF4-FFF2-40B4-BE49-F238E27FC236}">
                <a16:creationId xmlns:a16="http://schemas.microsoft.com/office/drawing/2014/main" id="{1DA91FD9-923A-B747-800B-C9DCD0EEE06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74685" y="3970287"/>
            <a:ext cx="2826759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4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456AB7FA-79BB-DC49-A555-E1ECEC22150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74830" y="4601087"/>
            <a:ext cx="2826759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b="0" i="0">
                <a:effectLst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Lorem ipsum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dolor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sit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amet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consectetur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adipiscing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elit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sed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do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eiusmod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tempor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incididunt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ut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labore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et dolore magna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aliqua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 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Espace réservé du texte 20">
            <a:extLst>
              <a:ext uri="{FF2B5EF4-FFF2-40B4-BE49-F238E27FC236}">
                <a16:creationId xmlns:a16="http://schemas.microsoft.com/office/drawing/2014/main" id="{F45388C0-BD2D-E343-928D-5574D00C12C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3946" y="3970287"/>
            <a:ext cx="2826759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5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2FABA181-C721-F041-BA87-6911EEB50CC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54091" y="4601087"/>
            <a:ext cx="2826759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b="0" i="0">
                <a:effectLst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Lorem ipsum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dolor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sit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amet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consectetur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adipiscing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elit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sed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do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eiusmod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tempor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incididunt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ut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labore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et dolore magna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aliqua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 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Espace réservé du texte 20">
            <a:extLst>
              <a:ext uri="{FF2B5EF4-FFF2-40B4-BE49-F238E27FC236}">
                <a16:creationId xmlns:a16="http://schemas.microsoft.com/office/drawing/2014/main" id="{551C47CF-F98B-1D45-836A-64F8B099D58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33208" y="3970287"/>
            <a:ext cx="2826759" cy="492367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2" spc="330" baseline="0">
                <a:solidFill>
                  <a:srgbClr val="729AA1"/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PART 6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1" i="0" u="none" strike="noStrike" kern="1200" cap="none" spc="325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TITLE</a:t>
            </a:r>
          </a:p>
        </p:txBody>
      </p:sp>
      <p:sp>
        <p:nvSpPr>
          <p:cNvPr id="40" name="Espace réservé du texte 22">
            <a:extLst>
              <a:ext uri="{FF2B5EF4-FFF2-40B4-BE49-F238E27FC236}">
                <a16:creationId xmlns:a16="http://schemas.microsoft.com/office/drawing/2014/main" id="{40A523A1-EF2E-044C-ADB3-9C09B5E888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33353" y="4601087"/>
            <a:ext cx="2826759" cy="1172452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b="0" i="0">
                <a:effectLst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Lorem ipsum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dolor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sit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amet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consectetur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adipiscing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elit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sed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do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eiusmod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tempor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incididunt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ut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labore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et dolore magna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aliqua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 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Espace réservé du texte 5">
            <a:extLst>
              <a:ext uri="{FF2B5EF4-FFF2-40B4-BE49-F238E27FC236}">
                <a16:creationId xmlns:a16="http://schemas.microsoft.com/office/drawing/2014/main" id="{83A23B00-80D5-5C48-AC3A-FCCFF103553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BASIC SLIDE COMPOSITION  3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F94AA50-5A50-9747-8CEE-2A653F4E7276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1135A77-85EF-C243-9454-12C472C1E07E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276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239CA10-FCFB-554E-871B-190A890C5565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058303-7FC9-3A45-898A-E146AD971E6B}"/>
              </a:ext>
            </a:extLst>
          </p:cNvPr>
          <p:cNvSpPr/>
          <p:nvPr/>
        </p:nvSpPr>
        <p:spPr bwMode="auto">
          <a:xfrm>
            <a:off x="609601" y="5794806"/>
            <a:ext cx="6770763" cy="578504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/>
            </a:solidFill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95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97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18F0BD4E-5040-0C42-8130-760F497F70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93259" y="2383779"/>
            <a:ext cx="5329452" cy="3168186"/>
          </a:xfrm>
          <a:prstGeom prst="rect">
            <a:avLst/>
          </a:prstGeom>
        </p:spPr>
        <p:txBody>
          <a:bodyPr/>
          <a:lstStyle>
            <a:lvl1pPr marL="154791" marR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35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</a:lstStyle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No stain on clothes / Easily transportable/ Easy to use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(easy to open &amp; easy to apply on the targeted area/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 Easy to lock/ Safe in bag or pocket/ Compact format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29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Calibri" panose="020F0502020204030204" pitchFamily="34" charset="0"/>
            </a:endParaRPr>
          </a:p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Form factor: Dispenses precise &amp; concentrated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 amount of CBD to massage TARGETED area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29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Calibri" panose="020F0502020204030204" pitchFamily="34" charset="0"/>
            </a:endParaRPr>
          </a:p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29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GEL: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Colorless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gel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with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subtle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scent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with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a texture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that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isn’t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sticky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and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absorbs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quickly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into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the skin =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allowing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to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get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dressed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quickly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and not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stain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clothes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,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ability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to not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compete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with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perfume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/deo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29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Calibri" panose="020F0502020204030204" pitchFamily="34" charset="0"/>
            </a:endParaRPr>
          </a:p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29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CREAM: 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Scented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and use the « cool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effect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 » of menthol to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signify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pain relief (</a:t>
            </a: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Camphor/ Eucalyptus/ Menthol/ Tea tree/ Capsaicin/)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61AD5ED4-F814-FA42-805A-92E7631BFB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5175" y="5874759"/>
            <a:ext cx="5657536" cy="494758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35" b="1" i="0" baseline="0">
                <a:solidFill>
                  <a:schemeClr val="bg1">
                    <a:lumMod val="65000"/>
                  </a:schemeClr>
                </a:solidFill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ACTIVES: CBD+X : Aloe Vera/ Glucosamine/ MSM/ White willow extract/ Arnica/ Green tea extract (caffeinated)/ Beta Caryophyllene  </a:t>
            </a:r>
            <a:endParaRPr kumimoji="0" lang="fr-FR" sz="1029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Calibri" panose="020F0502020204030204" pitchFamily="34" charset="0"/>
            </a:endParaRPr>
          </a:p>
        </p:txBody>
      </p:sp>
      <p:sp>
        <p:nvSpPr>
          <p:cNvPr id="37" name="Espace réservé pour une image  36">
            <a:extLst>
              <a:ext uri="{FF2B5EF4-FFF2-40B4-BE49-F238E27FC236}">
                <a16:creationId xmlns:a16="http://schemas.microsoft.com/office/drawing/2014/main" id="{C37541EA-9A8F-A54F-A4BE-A5FB5315005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24680" y="1032774"/>
            <a:ext cx="1852084" cy="2301520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8" name="Espace réservé pour une image  36">
            <a:extLst>
              <a:ext uri="{FF2B5EF4-FFF2-40B4-BE49-F238E27FC236}">
                <a16:creationId xmlns:a16="http://schemas.microsoft.com/office/drawing/2014/main" id="{081AD28A-9948-7F48-816F-ACD1B6B5EE3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789149" y="352395"/>
            <a:ext cx="2309092" cy="2961440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9" name="Espace réservé pour une image  36">
            <a:extLst>
              <a:ext uri="{FF2B5EF4-FFF2-40B4-BE49-F238E27FC236}">
                <a16:creationId xmlns:a16="http://schemas.microsoft.com/office/drawing/2014/main" id="{45C19A2C-56F1-5A40-BA32-7A4090A6311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80363" y="3552708"/>
            <a:ext cx="2343882" cy="3016754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0" name="Espace réservé pour une image  36">
            <a:extLst>
              <a:ext uri="{FF2B5EF4-FFF2-40B4-BE49-F238E27FC236}">
                <a16:creationId xmlns:a16="http://schemas.microsoft.com/office/drawing/2014/main" id="{B2F955F6-F942-424E-8338-62BEE760780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943412" y="3544166"/>
            <a:ext cx="1852084" cy="2301520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0" name="Espace réservé du texte 20">
            <a:extLst>
              <a:ext uri="{FF2B5EF4-FFF2-40B4-BE49-F238E27FC236}">
                <a16:creationId xmlns:a16="http://schemas.microsoft.com/office/drawing/2014/main" id="{593CC54D-714D-8C4C-B364-C42370B8E9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7405" y="1557310"/>
            <a:ext cx="3439887" cy="589126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9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75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Catchy Main 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03CD69D-E8EA-0246-9326-D28224E331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7405" y="1205947"/>
            <a:ext cx="3439887" cy="347170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7" b="0" i="0" spc="33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</a:lstStyle>
          <a:p>
            <a:pPr marL="0" marR="0" lvl="0" indent="0" algn="l" defTabSz="736882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192" b="0" i="0" u="none" strike="noStrike" kern="1200" cap="none" spc="325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SUBTITLE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0B32278B-61F2-EC4D-8221-CC742ADE27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BASIC SLIDE COMPOSITION 4 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E475189-F11F-4743-AF62-979F02A11187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8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BEA440-CA26-5445-A610-0ABF4234279C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38" name="Espace réservé pour une image  36">
            <a:extLst>
              <a:ext uri="{FF2B5EF4-FFF2-40B4-BE49-F238E27FC236}">
                <a16:creationId xmlns:a16="http://schemas.microsoft.com/office/drawing/2014/main" id="{081AD28A-9948-7F48-816F-ACD1B6B5EE3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086601" y="620154"/>
            <a:ext cx="5105399" cy="5726857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u texte 31">
            <a:extLst>
              <a:ext uri="{FF2B5EF4-FFF2-40B4-BE49-F238E27FC236}">
                <a16:creationId xmlns:a16="http://schemas.microsoft.com/office/drawing/2014/main" id="{28AC6927-CC33-8241-B1ED-B124931777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93761" y="2658429"/>
            <a:ext cx="5329452" cy="3168186"/>
          </a:xfrm>
          <a:prstGeom prst="rect">
            <a:avLst/>
          </a:prstGeom>
        </p:spPr>
        <p:txBody>
          <a:bodyPr/>
          <a:lstStyle>
            <a:lvl1pPr marL="154791" marR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35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</a:lstStyle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No stain on clothes / Easily transportable/ Easy to use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(easy to open &amp; easy to apply on the targeted area/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 Easy to lock/ Safe in bag or pocket/ Compact format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29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Calibri" panose="020F0502020204030204" pitchFamily="34" charset="0"/>
            </a:endParaRPr>
          </a:p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Form factor: Dispenses precise &amp; concentrated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 amount of CBD to massage TARGETED area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29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Calibri" panose="020F0502020204030204" pitchFamily="34" charset="0"/>
            </a:endParaRPr>
          </a:p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29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GEL: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Colorless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gel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with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subtle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scent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with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a texture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that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isn’t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sticky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and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absorbs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quickly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into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the skin =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allowing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to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get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dressed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quickly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and not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stain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clothes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,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ability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to not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compete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with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perfume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/deo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29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Calibri" panose="020F0502020204030204" pitchFamily="34" charset="0"/>
            </a:endParaRPr>
          </a:p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29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CREAM: 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Scented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and use the « cool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effect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 » of menthol to </a:t>
            </a:r>
            <a:r>
              <a:rPr kumimoji="0" lang="fr-FR" sz="1029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signify</a:t>
            </a:r>
            <a:r>
              <a:rPr kumimoji="0" lang="fr-FR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pain relief (</a:t>
            </a: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Camphor/ Eucalyptus/ Menthol/ Tea tree/ Capsaicin/)</a:t>
            </a:r>
          </a:p>
        </p:txBody>
      </p:sp>
      <p:sp>
        <p:nvSpPr>
          <p:cNvPr id="17" name="Espace réservé du texte 20">
            <a:extLst>
              <a:ext uri="{FF2B5EF4-FFF2-40B4-BE49-F238E27FC236}">
                <a16:creationId xmlns:a16="http://schemas.microsoft.com/office/drawing/2014/main" id="{5468DC38-34F3-1141-9A9E-1F72C912FA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7405" y="1887428"/>
            <a:ext cx="3439887" cy="589126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9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75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Catchy Main Title</a:t>
            </a:r>
          </a:p>
        </p:txBody>
      </p:sp>
      <p:sp>
        <p:nvSpPr>
          <p:cNvPr id="18" name="Espace réservé du texte 6">
            <a:extLst>
              <a:ext uri="{FF2B5EF4-FFF2-40B4-BE49-F238E27FC236}">
                <a16:creationId xmlns:a16="http://schemas.microsoft.com/office/drawing/2014/main" id="{C7BC841D-1757-B246-80BC-D0D33420DD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7405" y="1536064"/>
            <a:ext cx="3439887" cy="347170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7" b="0" i="0" spc="33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</a:lstStyle>
          <a:p>
            <a:pPr marL="0" marR="0" lvl="0" indent="0" algn="l" defTabSz="736882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192" b="0" i="0" u="none" strike="noStrike" kern="1200" cap="none" spc="325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SUBTITLE</a:t>
            </a: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B2E5295D-C7FE-B445-B738-9787BE3DB2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BASIC SLIDE COMPOSITION 5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DF97365-DC0F-574E-89DD-0CB5F25C2D0D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40AEDFA-6122-E24F-9F3C-ABF9FA139407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5726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D8E568E-1B84-FA4F-B303-53AEC1B2BCBE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8445C667-5A59-A241-BE64-27890BBA02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5225" y="2678230"/>
            <a:ext cx="3343275" cy="750771"/>
          </a:xfrm>
          <a:prstGeom prst="rect">
            <a:avLst/>
          </a:prstGeom>
        </p:spPr>
        <p:txBody>
          <a:bodyPr/>
          <a:lstStyle>
            <a:lvl1pPr marL="154791" marR="0" indent="-154791" algn="l" defTabSz="74275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35" b="1" i="0" baseline="0">
                <a:solidFill>
                  <a:srgbClr val="729AA1"/>
                </a:solidFill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PROTECTION ON ACTIVE INGREDIENTS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AND THEIR EFFICIENCY/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OPTIMUM FORMULA PROTECTION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AND SHELF STABILITY</a:t>
            </a:r>
          </a:p>
        </p:txBody>
      </p:sp>
      <p:sp>
        <p:nvSpPr>
          <p:cNvPr id="30" name="Espace réservé pour une image  36">
            <a:extLst>
              <a:ext uri="{FF2B5EF4-FFF2-40B4-BE49-F238E27FC236}">
                <a16:creationId xmlns:a16="http://schemas.microsoft.com/office/drawing/2014/main" id="{0D4DA94F-340C-0C4A-86F4-DA822E598C8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177423" y="372559"/>
            <a:ext cx="2673515" cy="3602426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1" name="Espace réservé pour une image  36">
            <a:extLst>
              <a:ext uri="{FF2B5EF4-FFF2-40B4-BE49-F238E27FC236}">
                <a16:creationId xmlns:a16="http://schemas.microsoft.com/office/drawing/2014/main" id="{C551487D-F0E0-9F4E-8A64-7AD54A0E89D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251380" y="4182213"/>
            <a:ext cx="1852084" cy="2301520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u texte 20">
            <a:extLst>
              <a:ext uri="{FF2B5EF4-FFF2-40B4-BE49-F238E27FC236}">
                <a16:creationId xmlns:a16="http://schemas.microsoft.com/office/drawing/2014/main" id="{E67BBCAA-6657-AB47-8140-005E939037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65226" y="899720"/>
            <a:ext cx="3439887" cy="589126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9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75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Catchy Main Title</a:t>
            </a:r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F2E30F80-CE62-F440-9BDF-C62D8DB893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65226" y="1512048"/>
            <a:ext cx="6421664" cy="952039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b="0" i="0">
                <a:effectLst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Lorem ipsum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dolor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sit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amet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consectetur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adipiscing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elit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sed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do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eiusmod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tempor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incididunt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ut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labore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et dolore magna </a:t>
            </a:r>
            <a:r>
              <a:rPr kumimoji="0" lang="en-GB" sz="1083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aliqua</a:t>
            </a:r>
            <a:r>
              <a:rPr kumimoji="0" lang="en-GB" sz="1083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 </a:t>
            </a:r>
            <a:endParaRPr kumimoji="0" lang="en-GB" sz="1083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Espace réservé du texte 31">
            <a:extLst>
              <a:ext uri="{FF2B5EF4-FFF2-40B4-BE49-F238E27FC236}">
                <a16:creationId xmlns:a16="http://schemas.microsoft.com/office/drawing/2014/main" id="{3749D7E6-4207-5F4D-8430-0C6CC52A6F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65227" y="3594209"/>
            <a:ext cx="3374433" cy="2653885"/>
          </a:xfrm>
          <a:prstGeom prst="rect">
            <a:avLst/>
          </a:prstGeom>
        </p:spPr>
        <p:txBody>
          <a:bodyPr/>
          <a:lstStyle>
            <a:lvl1pPr marL="154791" marR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35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</a:lstStyle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No stain on clothes / Easily transportable/ Easy to use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29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Calibri" panose="020F0502020204030204" pitchFamily="34" charset="0"/>
            </a:endParaRPr>
          </a:p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Form factor: Dispenses precise &amp; concentrated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 amount of CBD to massage TARGETED</a:t>
            </a:r>
          </a:p>
        </p:txBody>
      </p:sp>
      <p:sp>
        <p:nvSpPr>
          <p:cNvPr id="17" name="Espace réservé du texte 26">
            <a:extLst>
              <a:ext uri="{FF2B5EF4-FFF2-40B4-BE49-F238E27FC236}">
                <a16:creationId xmlns:a16="http://schemas.microsoft.com/office/drawing/2014/main" id="{AFF598E3-B997-5D40-A258-11AA9CC42FF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97779" y="2678230"/>
            <a:ext cx="3343275" cy="750771"/>
          </a:xfrm>
          <a:prstGeom prst="rect">
            <a:avLst/>
          </a:prstGeom>
        </p:spPr>
        <p:txBody>
          <a:bodyPr/>
          <a:lstStyle>
            <a:lvl1pPr marL="154791" marR="0" indent="-154791" algn="l" defTabSz="74275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35" b="1" i="0" baseline="0">
                <a:solidFill>
                  <a:srgbClr val="729AA1"/>
                </a:solidFill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PROTECTION ON ACTIVE INGREDIENTS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AND THEIR EFFICIENCY/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OPTIMUM FORMULA PROTECTION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AND SHELF STABILITY</a:t>
            </a:r>
          </a:p>
        </p:txBody>
      </p:sp>
      <p:sp>
        <p:nvSpPr>
          <p:cNvPr id="18" name="Espace réservé du texte 31">
            <a:extLst>
              <a:ext uri="{FF2B5EF4-FFF2-40B4-BE49-F238E27FC236}">
                <a16:creationId xmlns:a16="http://schemas.microsoft.com/office/drawing/2014/main" id="{6B8C6018-A341-FB4B-8DEC-38311BFCAA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97779" y="3594209"/>
            <a:ext cx="3374433" cy="2653885"/>
          </a:xfrm>
          <a:prstGeom prst="rect">
            <a:avLst/>
          </a:prstGeom>
        </p:spPr>
        <p:txBody>
          <a:bodyPr/>
          <a:lstStyle>
            <a:lvl1pPr marL="154791" marR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35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</a:lstStyle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No stain on clothes / Easily transportable/ Easy to use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29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Calibri" panose="020F0502020204030204" pitchFamily="34" charset="0"/>
            </a:endParaRPr>
          </a:p>
          <a:p>
            <a:pPr marL="154791" marR="0" lvl="0" indent="-154791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Form factor: Dispenses precise &amp; concentrated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9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Calibri" panose="020F0502020204030204" pitchFamily="34" charset="0"/>
              </a:rPr>
              <a:t>     amount of CBD to massage TARGETED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BDAD5311-F7EC-E849-8C2D-58FCF8C1B8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BASIC SLIDE COMPOSITION 6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E51A673-4447-0C4E-95B8-877251325B09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7569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928E0A8-D5D2-274A-9CC7-924AF98C06CE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19" name="Espace réservé pour une image  36">
            <a:extLst>
              <a:ext uri="{FF2B5EF4-FFF2-40B4-BE49-F238E27FC236}">
                <a16:creationId xmlns:a16="http://schemas.microsoft.com/office/drawing/2014/main" id="{D93B0E0F-B93D-E34E-A653-1275101B2E1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71668" y="3134119"/>
            <a:ext cx="1852084" cy="2219393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C1C5A783-EFA9-D94E-AAE9-8489680D28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93610" y="3134117"/>
            <a:ext cx="5868459" cy="2218983"/>
          </a:xfrm>
          <a:prstGeom prst="rect">
            <a:avLst/>
          </a:prstGeom>
        </p:spPr>
        <p:txBody>
          <a:bodyPr/>
          <a:lstStyle>
            <a:lvl1pPr marL="185749" marR="0" indent="-185749" algn="l" defTabSz="742755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97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</a:lstStyle>
          <a:p>
            <a:pPr marL="185749" marR="0" lvl="0" indent="-185749" algn="l" defTabSz="742755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Secondary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brand (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attached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to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Shikohin’s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mother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brand)</a:t>
            </a:r>
          </a:p>
          <a:p>
            <a:pPr marL="185749" marR="0" lvl="0" indent="-185749" algn="l" defTabSz="742755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symbol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that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makes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sense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to US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consumers</a:t>
            </a:r>
            <a:endParaRPr kumimoji="0" lang="fr-FR" sz="1192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  <a:p>
            <a:pPr marL="185749" marR="0" lvl="0" indent="-185749" algn="l" defTabSz="742755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Evokes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a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scientific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symbol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gives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credibility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seriousness</a:t>
            </a:r>
            <a:endParaRPr kumimoji="0" lang="fr-FR" sz="1192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  <a:p>
            <a:pPr marL="185749" marR="0" lvl="0" indent="-185749" algn="l" defTabSz="742755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Talk to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athletes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</a:p>
          <a:p>
            <a:pPr marL="185749" marR="0" lvl="0" indent="-185749" algn="l" defTabSz="742755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Gives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a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minimalist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and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innovative</a:t>
            </a:r>
            <a:r>
              <a:rPr kumimoji="0" lang="fr-FR" sz="1192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image, unique to </a:t>
            </a:r>
            <a:r>
              <a:rPr kumimoji="0" lang="fr-FR" sz="1192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Japan</a:t>
            </a:r>
            <a:endParaRPr kumimoji="0" lang="fr-FR" sz="1192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</p:txBody>
      </p:sp>
      <p:sp>
        <p:nvSpPr>
          <p:cNvPr id="9" name="Espace réservé du texte 20">
            <a:extLst>
              <a:ext uri="{FF2B5EF4-FFF2-40B4-BE49-F238E27FC236}">
                <a16:creationId xmlns:a16="http://schemas.microsoft.com/office/drawing/2014/main" id="{D966909E-920A-7A43-9E56-0E5270F9D5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71948" y="1631974"/>
            <a:ext cx="3338676" cy="644892"/>
          </a:xfrm>
          <a:prstGeom prst="rect">
            <a:avLst/>
          </a:prstGeom>
        </p:spPr>
        <p:txBody>
          <a:bodyPr/>
          <a:lstStyle>
            <a:lvl1pPr marL="0" marR="0" indent="0" algn="ctr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9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75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Main Title</a:t>
            </a:r>
          </a:p>
        </p:txBody>
      </p:sp>
      <p:sp>
        <p:nvSpPr>
          <p:cNvPr id="11" name="Espace réservé du texte 20">
            <a:extLst>
              <a:ext uri="{FF2B5EF4-FFF2-40B4-BE49-F238E27FC236}">
                <a16:creationId xmlns:a16="http://schemas.microsoft.com/office/drawing/2014/main" id="{AC50EEB7-F43D-9241-A367-AAA89E789D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1948" y="1305960"/>
            <a:ext cx="3338676" cy="295635"/>
          </a:xfrm>
          <a:prstGeom prst="rect">
            <a:avLst/>
          </a:prstGeom>
        </p:spPr>
        <p:txBody>
          <a:bodyPr/>
          <a:lstStyle>
            <a:lvl1pPr marL="0" marR="0" indent="0" algn="ctr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6" spc="33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0" i="0" u="none" strike="noStrike" kern="1200" cap="none" spc="325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SUBTITLE</a:t>
            </a: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32C22BD3-2513-C643-A046-56DE551245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BASIC SLIDE COMPOSITION 7</a:t>
            </a:r>
          </a:p>
          <a:p>
            <a:pPr lvl="0"/>
            <a:r>
              <a:rPr lang="fr-FR" dirty="0"/>
              <a:t>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A196CB8-3F3E-A446-8B34-BD8342078596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2E6FEDA-09A5-AA43-B55D-6467FFBEEACA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8043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0816817-0E95-D649-B423-FBF96D762833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58" name="Espace réservé du texte 57">
            <a:extLst>
              <a:ext uri="{FF2B5EF4-FFF2-40B4-BE49-F238E27FC236}">
                <a16:creationId xmlns:a16="http://schemas.microsoft.com/office/drawing/2014/main" id="{99244423-017A-F54C-A118-D9873AAF3C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711" y="2178059"/>
            <a:ext cx="8253040" cy="3832692"/>
          </a:xfrm>
          <a:prstGeom prst="rect">
            <a:avLst/>
          </a:prstGeom>
        </p:spPr>
        <p:txBody>
          <a:bodyPr/>
          <a:lstStyle>
            <a:lvl1pPr marL="154791" marR="0" indent="-154791" algn="l" defTabSz="2476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92" b="0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</a:lstStyle>
          <a:p>
            <a:pPr marL="154791" marR="0" lvl="0" indent="-154791" algn="l" defTabSz="2476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游ゴシック" panose="020B0400000000000000" pitchFamily="34" charset="-128"/>
                <a:cs typeface="+mn-cs"/>
              </a:rPr>
              <a:t>Targeting the JOB TO BE DONE (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relieving pain and/or prevent further pain down the line)</a:t>
            </a: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游ゴシック" panose="020B0400000000000000" pitchFamily="34" charset="-128"/>
                <a:cs typeface="+mn-cs"/>
              </a:rPr>
              <a:t> instead of a persona (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Which isn’t specific to a certain demographic)</a:t>
            </a:r>
            <a:endParaRPr kumimoji="1" lang="en-US" altLang="ja-JP" sz="13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Brown" pitchFamily="2" charset="77"/>
              <a:ea typeface="游ゴシック" panose="020B0400000000000000" pitchFamily="34" charset="-128"/>
              <a:cs typeface="+mn-cs"/>
            </a:endParaRPr>
          </a:p>
          <a:p>
            <a:pPr marL="154791" marR="0" lvl="0" indent="-154791" algn="l" defTabSz="2476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游ゴシック" panose="020B0400000000000000" pitchFamily="34" charset="-128"/>
                <a:cs typeface="+mn-cs"/>
              </a:rPr>
              <a:t>Targeting people who believe CBD can help them alleviate their pain (chronic or acute)</a:t>
            </a:r>
          </a:p>
          <a:p>
            <a:pPr marL="154791" marR="0" lvl="0" indent="-154791" algn="l" defTabSz="2476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游ゴシック" panose="020B0400000000000000" pitchFamily="34" charset="-128"/>
                <a:cs typeface="+mn-cs"/>
              </a:rPr>
              <a:t>Targeting people who want to alleviate muscle soreness from workouts and intense working</a:t>
            </a:r>
          </a:p>
          <a:p>
            <a:pPr marL="154791" marR="0" lvl="0" indent="-154791" algn="l" defTabSz="2476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游ゴシック" panose="020B0400000000000000" pitchFamily="34" charset="-128"/>
                <a:cs typeface="+mn-cs"/>
              </a:rPr>
              <a:t>Our product is gender neutral. </a:t>
            </a:r>
          </a:p>
          <a:p>
            <a:pPr marL="154791" marR="0" lvl="0" indent="-154791" algn="l" defTabSz="2476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ja-JP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游ゴシック" panose="020B0400000000000000" pitchFamily="34" charset="-128"/>
                <a:cs typeface="+mn-cs"/>
              </a:rPr>
              <a:t>We target customers that are attracted to our Scientific/Modern/Minimalistic/”Made in Japan” brand</a:t>
            </a:r>
          </a:p>
        </p:txBody>
      </p:sp>
      <p:sp>
        <p:nvSpPr>
          <p:cNvPr id="8" name="Espace réservé du texte 20">
            <a:extLst>
              <a:ext uri="{FF2B5EF4-FFF2-40B4-BE49-F238E27FC236}">
                <a16:creationId xmlns:a16="http://schemas.microsoft.com/office/drawing/2014/main" id="{37FEBD82-7548-D341-B4EA-EEDBAEFC5E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9928" y="1569884"/>
            <a:ext cx="3439887" cy="589126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9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75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Catchy Main Title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8CA1C77B-DFA6-0E41-A959-224B152E1C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39928" y="1218521"/>
            <a:ext cx="3439887" cy="347170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7" b="0" i="0" spc="33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</a:lstStyle>
          <a:p>
            <a:pPr marL="0" marR="0" lvl="0" indent="0" algn="l" defTabSz="736882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fr-FR" sz="1192" b="0" i="0" u="none" strike="noStrike" kern="1200" cap="none" spc="325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SUBTITLE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CEE480DC-0262-B245-AB03-1FD9DC0C0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BASIC SLIDE COMPOSITION 8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6CEC6B2-AC68-4A4E-9ACC-83E1EA51B36C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AAEF08A-0189-2642-95F7-AEF42E66B278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2534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D753FE9-5E25-8A4C-9821-510F161B324E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69DCEC7-35B0-F841-971E-F68F1E248A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75779" y="1646511"/>
            <a:ext cx="7222066" cy="1541674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956" b="1" i="0" baseline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Transition slide -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consectetur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adipiscing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do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eiusmod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tempor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incididunt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ut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labore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et dolore magna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aliqua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Ut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enim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ad minim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veniam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quis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nostrud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EC3DC731-5857-2543-A744-23833B77AD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60149" y="3412515"/>
            <a:ext cx="7222066" cy="1541674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956" b="1" i="0" baseline="0">
                <a:solidFill>
                  <a:srgbClr val="729AA1"/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Innovation Lorem ipsum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dolor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sit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amet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consectetur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adipiscing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elit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sed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do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eiusmod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tempor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labore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729AA1"/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et.</a:t>
            </a:r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B5A8B9A8-D7B2-8B4A-816D-D887A8C44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Transition SLIDE COMPOSITION 1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23E2A1C-D239-6C4F-99D4-CCDAFB155CF3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B47D73F-3D2F-AB44-9DCD-50B8DDA4B5F8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8817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0853D3F-4191-8044-9D06-0B7D368419C8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7" name="Espace réservé du texte 11">
            <a:extLst>
              <a:ext uri="{FF2B5EF4-FFF2-40B4-BE49-F238E27FC236}">
                <a16:creationId xmlns:a16="http://schemas.microsoft.com/office/drawing/2014/main" id="{E8849DAF-0788-CC43-9F4D-3E67951FB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0301" y="2658161"/>
            <a:ext cx="7222066" cy="1541674"/>
          </a:xfrm>
          <a:prstGeom prst="rect">
            <a:avLst/>
          </a:prstGeom>
        </p:spPr>
        <p:txBody>
          <a:bodyPr/>
          <a:lstStyle>
            <a:lvl1pPr marL="0" marR="0" indent="0" algn="ctr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956" b="1" i="0" baseline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Transition slide -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consectetur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adipiscing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do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eiusmod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tempor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incididunt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ut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labore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et dolore magna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aliqua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 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Ut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enim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ad minim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veniam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,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quis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 </a:t>
            </a:r>
            <a:r>
              <a:rPr kumimoji="0" lang="en-GB" sz="19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nostrud</a:t>
            </a: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.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</p:txBody>
      </p:sp>
      <p:sp>
        <p:nvSpPr>
          <p:cNvPr id="10" name="Espace réservé du texte 20">
            <a:extLst>
              <a:ext uri="{FF2B5EF4-FFF2-40B4-BE49-F238E27FC236}">
                <a16:creationId xmlns:a16="http://schemas.microsoft.com/office/drawing/2014/main" id="{B1E3E661-126E-E040-8FFB-731AA3531B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41995" y="2173929"/>
            <a:ext cx="3338676" cy="295635"/>
          </a:xfrm>
          <a:prstGeom prst="rect">
            <a:avLst/>
          </a:prstGeom>
        </p:spPr>
        <p:txBody>
          <a:bodyPr/>
          <a:lstStyle>
            <a:lvl1pPr marL="0" marR="0" indent="0" algn="ctr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6" spc="33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 marL="0" marR="0" indent="0" algn="l" defTabSz="363411" rtl="0" eaLnBrk="1" fontAlgn="auto" latinLnBrk="0" hangingPunct="1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lvl2pPr>
          </a:lstStyle>
          <a:p>
            <a:pPr marL="0" marR="0" lvl="0" indent="0" algn="ctr" defTabSz="742755" rtl="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92" b="0" i="0" u="none" strike="noStrike" kern="1200" cap="none" spc="325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SUBTITLE</a:t>
            </a:r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A4E554EC-D490-F74E-97A7-81C936AD0D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transition SLIDE COMPOSITION2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58B9F02-4F70-4B48-B20B-276EBD5969C3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DDCC38D-D863-4D44-B8A4-68F81834BA6D}"/>
              </a:ext>
            </a:extLst>
          </p:cNvPr>
          <p:cNvSpPr txBox="1"/>
          <p:nvPr/>
        </p:nvSpPr>
        <p:spPr>
          <a:xfrm>
            <a:off x="9015610" y="6403769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fld id="{FA094B7F-545F-2F43-94BE-C484244EB6DF}" type="slidenum">
              <a:rPr lang="fr-FR" sz="800" b="0" spc="300" smtClean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  <a:latin typeface="Montserrat" panose="02000505000000020004" pitchFamily="2" charset="77"/>
              </a:rPr>
              <a:t>‹#›</a:t>
            </a:fld>
            <a:endParaRPr lang="fr-FR" sz="800" b="0" spc="30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Montserrat" panose="02000505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3252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A97A86C9-35DB-C24A-BF88-1BB36E080A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4961" y="339674"/>
            <a:ext cx="3028950" cy="3991036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6" name="Espace réservé pour une image  14">
            <a:extLst>
              <a:ext uri="{FF2B5EF4-FFF2-40B4-BE49-F238E27FC236}">
                <a16:creationId xmlns:a16="http://schemas.microsoft.com/office/drawing/2014/main" id="{FE39F780-772B-B94A-A981-E1203A4E04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86559" y="339674"/>
            <a:ext cx="2208453" cy="2789232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7" name="Espace réservé pour une image  14">
            <a:extLst>
              <a:ext uri="{FF2B5EF4-FFF2-40B4-BE49-F238E27FC236}">
                <a16:creationId xmlns:a16="http://schemas.microsoft.com/office/drawing/2014/main" id="{CD0D050A-2C7A-D645-B6AC-A3109013CB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19295" y="339674"/>
            <a:ext cx="2062993" cy="2789232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8" name="Espace réservé pour une image  14">
            <a:extLst>
              <a:ext uri="{FF2B5EF4-FFF2-40B4-BE49-F238E27FC236}">
                <a16:creationId xmlns:a16="http://schemas.microsoft.com/office/drawing/2014/main" id="{D7ED237F-81D5-934F-8070-0631062311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97599" y="339674"/>
            <a:ext cx="1863339" cy="2789232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9" name="Espace réservé pour une image  14">
            <a:extLst>
              <a:ext uri="{FF2B5EF4-FFF2-40B4-BE49-F238E27FC236}">
                <a16:creationId xmlns:a16="http://schemas.microsoft.com/office/drawing/2014/main" id="{0C03BE36-9A95-224B-9F90-FFA8161DCF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97087" y="339674"/>
            <a:ext cx="1863339" cy="2789232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0" name="Espace réservé pour une image  14">
            <a:extLst>
              <a:ext uri="{FF2B5EF4-FFF2-40B4-BE49-F238E27FC236}">
                <a16:creationId xmlns:a16="http://schemas.microsoft.com/office/drawing/2014/main" id="{2F45516E-40F5-304F-AD97-912966B305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1079" y="3256411"/>
            <a:ext cx="2390926" cy="3241226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1" name="Espace réservé pour une image  14">
            <a:extLst>
              <a:ext uri="{FF2B5EF4-FFF2-40B4-BE49-F238E27FC236}">
                <a16:creationId xmlns:a16="http://schemas.microsoft.com/office/drawing/2014/main" id="{9EDD07DF-017E-D94A-9FDA-3F2FC1C4B6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34922" y="4453457"/>
            <a:ext cx="3028950" cy="2044180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2" name="Espace réservé pour une image  14">
            <a:extLst>
              <a:ext uri="{FF2B5EF4-FFF2-40B4-BE49-F238E27FC236}">
                <a16:creationId xmlns:a16="http://schemas.microsoft.com/office/drawing/2014/main" id="{3E8A33EA-D1E6-844B-AE70-39CB311D85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86184" y="3249324"/>
            <a:ext cx="2511385" cy="1662160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3" name="Espace réservé pour une image  14">
            <a:extLst>
              <a:ext uri="{FF2B5EF4-FFF2-40B4-BE49-F238E27FC236}">
                <a16:creationId xmlns:a16="http://schemas.microsoft.com/office/drawing/2014/main" id="{86D8AAFF-2442-B648-A533-63AD3217CD7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86184" y="5021145"/>
            <a:ext cx="2511385" cy="1476493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4" name="Espace réservé pour une image  14">
            <a:extLst>
              <a:ext uri="{FF2B5EF4-FFF2-40B4-BE49-F238E27FC236}">
                <a16:creationId xmlns:a16="http://schemas.microsoft.com/office/drawing/2014/main" id="{B0692AE2-2408-CC44-AAA1-4F5228B422E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623060" y="3242238"/>
            <a:ext cx="3233979" cy="3255399"/>
          </a:xfrm>
          <a:prstGeom prst="rect">
            <a:avLst/>
          </a:prstGeom>
          <a:pattFill prst="pct5">
            <a:fgClr>
              <a:schemeClr val="tx1">
                <a:lumMod val="75000"/>
                <a:lumOff val="2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88348A95-37BB-774C-A735-98F3103C0F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35" y="95236"/>
            <a:ext cx="5360578" cy="140738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55" b="0" i="0" spc="325" baseline="0">
                <a:solidFill>
                  <a:schemeClr val="tx1">
                    <a:lumMod val="75000"/>
                    <a:lumOff val="25000"/>
                  </a:schemeClr>
                </a:solidFill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50" b="0" i="0" u="none" strike="noStrike" kern="1200" cap="none" spc="163" normalizeH="0" baseline="0" noProof="0" dirty="0">
                <a:ln>
                  <a:noFill/>
                </a:ln>
                <a:solidFill>
                  <a:srgbClr val="7A5B58">
                    <a:lumMod val="2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MOODBOARD     HIGH TECH      MINERAL     NATURAL</a:t>
            </a:r>
          </a:p>
        </p:txBody>
      </p:sp>
    </p:spTree>
    <p:extLst>
      <p:ext uri="{BB962C8B-B14F-4D97-AF65-F5344CB8AC3E}">
        <p14:creationId xmlns:p14="http://schemas.microsoft.com/office/powerpoint/2010/main" val="50853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E61F466-A4FA-B64E-8C4F-83321FD39ADF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1FBD8AA2-FD28-184D-A960-95EAA0DE9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71724" y="3043578"/>
            <a:ext cx="6477977" cy="385420"/>
          </a:xfrm>
          <a:prstGeom prst="rect">
            <a:avLst/>
          </a:prstGeom>
        </p:spPr>
        <p:txBody>
          <a:bodyPr/>
          <a:lstStyle>
            <a:lvl1pPr marL="0" marR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956" b="1" i="0" baseline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Brown" pitchFamily="2" charset="77"/>
              </a:defRPr>
            </a:lvl1pPr>
          </a:lstStyle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5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Brown" pitchFamily="2" charset="77"/>
                <a:ea typeface="+mn-ea"/>
                <a:cs typeface="+mn-cs"/>
              </a:rPr>
              <a:t>Thank you for your attention!</a:t>
            </a:r>
          </a:p>
          <a:p>
            <a:pPr marL="0" marR="0" lvl="0" indent="0" algn="l" defTabSz="742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Brown" pitchFamily="2" charset="77"/>
              <a:ea typeface="+mn-ea"/>
              <a:cs typeface="+mn-cs"/>
            </a:endParaRP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9C740E1-72CA-8E40-89EA-804580BFDA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242123"/>
            <a:ext cx="5172576" cy="386499"/>
          </a:xfrm>
          <a:prstGeom prst="rect">
            <a:avLst/>
          </a:prstGeom>
        </p:spPr>
        <p:txBody>
          <a:bodyPr/>
          <a:lstStyle>
            <a:lvl1pPr>
              <a:defRPr sz="900" b="1" i="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Brown" pitchFamily="2" charset="77"/>
              </a:defRPr>
            </a:lvl1pPr>
            <a:lvl2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 b="1" spc="3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fr-FR" dirty="0"/>
              <a:t>final SLIDE COMPOSITION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B885A0F-EE26-724B-88A4-EFA6C1B9B9C2}"/>
              </a:ext>
            </a:extLst>
          </p:cNvPr>
          <p:cNvSpPr txBox="1"/>
          <p:nvPr/>
        </p:nvSpPr>
        <p:spPr>
          <a:xfrm>
            <a:off x="8986053" y="189092"/>
            <a:ext cx="2615396" cy="295002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STRICTLY</a:t>
            </a:r>
          </a:p>
          <a:p>
            <a:pPr algn="r"/>
            <a:r>
              <a:rPr lang="fr-FR" sz="800" b="0" spc="300">
                <a:solidFill>
                  <a:srgbClr val="4F7B80">
                    <a:alpha val="80000"/>
                  </a:srgbClr>
                </a:solidFill>
                <a:latin typeface="Montserrat" panose="02000505000000020004" pitchFamily="2" charset="77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843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336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3">
            <a:extLst>
              <a:ext uri="{FF2B5EF4-FFF2-40B4-BE49-F238E27FC236}">
                <a16:creationId xmlns:a16="http://schemas.microsoft.com/office/drawing/2014/main" id="{6BDB4E5A-C604-9B4E-BC9D-8EBDFFCD67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499" y="231076"/>
            <a:ext cx="3600450" cy="359778"/>
          </a:xfrm>
          <a:prstGeom prst="rect">
            <a:avLst/>
          </a:prstGeom>
        </p:spPr>
        <p:txBody>
          <a:bodyPr/>
          <a:lstStyle>
            <a:lvl1pPr marL="0" marR="0" indent="0" algn="l" defTabSz="491255" rtl="0" eaLnBrk="1" fontAlgn="auto" latinLnBrk="0" hangingPunct="1">
              <a:lnSpc>
                <a:spcPct val="100000"/>
              </a:lnSpc>
              <a:spcBef>
                <a:spcPts val="269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758" cap="all" spc="271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 SemiBold" panose="02000505000000020004" pitchFamily="2" charset="77"/>
              </a:defRPr>
            </a:lvl1pPr>
          </a:lstStyle>
          <a:p>
            <a:pPr marL="0" marR="0" lvl="0" indent="0" algn="l" defTabSz="491255" rtl="0" eaLnBrk="1" fontAlgn="auto" latinLnBrk="0" hangingPunct="1">
              <a:lnSpc>
                <a:spcPct val="100000"/>
              </a:lnSpc>
              <a:spcBef>
                <a:spcPts val="269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58" b="1" i="0" u="none" strike="noStrike" kern="1200" cap="none" spc="163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  <a:alpha val="80000"/>
                  </a:srgbClr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BASIC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0FA9FB-A6BA-AD43-B17A-3E6D7C1DCDD4}"/>
              </a:ext>
            </a:extLst>
          </p:cNvPr>
          <p:cNvSpPr/>
          <p:nvPr/>
        </p:nvSpPr>
        <p:spPr bwMode="auto">
          <a:xfrm>
            <a:off x="609599" y="620155"/>
            <a:ext cx="10991850" cy="5726857"/>
          </a:xfrm>
          <a:prstGeom prst="rect">
            <a:avLst/>
          </a:prstGeom>
          <a:solidFill>
            <a:srgbClr val="F8F6F3">
              <a:alpha val="51765"/>
            </a:srgbClr>
          </a:solidFill>
          <a:ln>
            <a:noFill/>
          </a:ln>
        </p:spPr>
        <p:txBody>
          <a:bodyPr vert="horz" wrap="square" lIns="49530" tIns="24765" rIns="49530" bIns="24765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858"/>
          </a:p>
        </p:txBody>
      </p:sp>
    </p:spTree>
    <p:extLst>
      <p:ext uri="{BB962C8B-B14F-4D97-AF65-F5344CB8AC3E}">
        <p14:creationId xmlns:p14="http://schemas.microsoft.com/office/powerpoint/2010/main" val="134597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04400" y="421767"/>
            <a:ext cx="11360800" cy="8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11330666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B5E06C8-4CCE-445E-BB25-07CA23AD9097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2606714"/>
      </p:ext>
    </p:extLst>
  </p:cSld>
  <p:clrMapOvr>
    <a:masterClrMapping/>
  </p:clrMapOvr>
  <p:hf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25413" y="138113"/>
            <a:ext cx="11000856" cy="40616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 dirty="0"/>
          </a:p>
        </p:txBody>
      </p:sp>
      <p:pic>
        <p:nvPicPr>
          <p:cNvPr id="2" name="Picture 2" descr="A red and black logo&#10;&#10;Description automatically generated">
            <a:extLst>
              <a:ext uri="{FF2B5EF4-FFF2-40B4-BE49-F238E27FC236}">
                <a16:creationId xmlns:a16="http://schemas.microsoft.com/office/drawing/2014/main" id="{400EC8D7-6DC9-1605-F404-BE42B7E8F9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2076" y="194549"/>
            <a:ext cx="872930" cy="263759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3AC8FD2-8097-2400-BA1E-5C2A5A1A5C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46932" y="0"/>
            <a:ext cx="1019656" cy="19005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8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date/month/year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7669324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919E17-A30C-1C10-86B5-32F0E9F3C7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5037196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919E17-A30C-1C10-86B5-32F0E9F3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D1BC210-4595-4FCE-91B3-FF9F214DD6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762" y="802298"/>
            <a:ext cx="11418888" cy="576263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A6323E3F-9150-4F6F-8C88-F81C3F5A71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174" y="381000"/>
            <a:ext cx="11420475" cy="485775"/>
          </a:xfrm>
          <a:prstGeom prst="rect">
            <a:avLst/>
          </a:prstGeom>
        </p:spPr>
        <p:txBody>
          <a:bodyPr vert="horz"/>
          <a:lstStyle>
            <a:lvl1pPr>
              <a:defRPr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defRPr>
            </a:lvl1pPr>
          </a:lstStyle>
          <a:p>
            <a:r>
              <a:rPr lang="en-US" dirty="0"/>
              <a:t>Template - [type of slide]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54F5C2C-AC0A-7D7F-CF6B-2E2F67252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18941" y="6460383"/>
            <a:ext cx="5847522" cy="2406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Source:_______</a:t>
            </a:r>
            <a:endParaRPr lang="en-US" dirty="0"/>
          </a:p>
        </p:txBody>
      </p:sp>
      <p:sp>
        <p:nvSpPr>
          <p:cNvPr id="2" name="Rectángulo 3">
            <a:extLst>
              <a:ext uri="{FF2B5EF4-FFF2-40B4-BE49-F238E27FC236}">
                <a16:creationId xmlns:a16="http://schemas.microsoft.com/office/drawing/2014/main" id="{5D3F3007-73A3-58EA-9AF5-F4733620EF8F}"/>
              </a:ext>
            </a:extLst>
          </p:cNvPr>
          <p:cNvSpPr/>
          <p:nvPr userDrawn="1"/>
        </p:nvSpPr>
        <p:spPr>
          <a:xfrm>
            <a:off x="371475" y="6451600"/>
            <a:ext cx="1645584" cy="2494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Your logo here</a:t>
            </a:r>
          </a:p>
        </p:txBody>
      </p:sp>
    </p:spTree>
    <p:extLst>
      <p:ext uri="{BB962C8B-B14F-4D97-AF65-F5344CB8AC3E}">
        <p14:creationId xmlns:p14="http://schemas.microsoft.com/office/powerpoint/2010/main" val="3037972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nical Center">
    <p:bg>
      <p:bgPr>
        <a:gradFill>
          <a:gsLst>
            <a:gs pos="91000">
              <a:schemeClr val="bg2">
                <a:lumMod val="25000"/>
              </a:schemeClr>
            </a:gs>
            <a:gs pos="14000">
              <a:srgbClr val="23181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and white logo&#10;&#10;Description automatically generated">
            <a:extLst>
              <a:ext uri="{FF2B5EF4-FFF2-40B4-BE49-F238E27FC236}">
                <a16:creationId xmlns:a16="http://schemas.microsoft.com/office/drawing/2014/main" id="{340F8A06-C5B1-3E6A-D4C2-7FC49C6299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75726" y="193019"/>
            <a:ext cx="895155" cy="2711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6F80B-6C80-378E-3412-31C28FE2CA95}"/>
              </a:ext>
            </a:extLst>
          </p:cNvPr>
          <p:cNvSpPr txBox="1"/>
          <p:nvPr userDrawn="1"/>
        </p:nvSpPr>
        <p:spPr>
          <a:xfrm>
            <a:off x="11136565" y="-16623"/>
            <a:ext cx="9639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3F42164-6357-4427-8C27-ADE0D4140584}" type="datetime4">
              <a:rPr lang="en-GB" sz="800" smtClean="0">
                <a:solidFill>
                  <a:schemeClr val="bg1"/>
                </a:solidFill>
              </a:rPr>
              <a:t>13 March 2026</a:t>
            </a:fld>
            <a:endParaRPr lang="en-FI" sz="800" dirty="0">
              <a:solidFill>
                <a:schemeClr val="bg1"/>
              </a:solidFill>
            </a:endParaRP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396B7AEC-BF1C-A0DD-BE26-86846B90FD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412" y="157507"/>
            <a:ext cx="10972377" cy="38677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77841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and black logo&#10;&#10;Description automatically generated">
            <a:extLst>
              <a:ext uri="{FF2B5EF4-FFF2-40B4-BE49-F238E27FC236}">
                <a16:creationId xmlns:a16="http://schemas.microsoft.com/office/drawing/2014/main" id="{701AD94F-F191-2915-D256-0E7248ED0B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7207" y="194549"/>
            <a:ext cx="872930" cy="263759"/>
          </a:xfrm>
          <a:prstGeom prst="rect">
            <a:avLst/>
          </a:prstGeom>
        </p:spPr>
      </p:pic>
      <p:pic>
        <p:nvPicPr>
          <p:cNvPr id="5" name="Picture 4" descr="A wreath of flags with text&#10;&#10;Description automatically generated">
            <a:extLst>
              <a:ext uri="{FF2B5EF4-FFF2-40B4-BE49-F238E27FC236}">
                <a16:creationId xmlns:a16="http://schemas.microsoft.com/office/drawing/2014/main" id="{9AD0ED08-742C-2FAB-7838-7D91E26222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1319" y="55953"/>
            <a:ext cx="590565" cy="540953"/>
          </a:xfrm>
          <a:prstGeom prst="rect">
            <a:avLst/>
          </a:prstGeom>
        </p:spPr>
      </p:pic>
      <p:pic>
        <p:nvPicPr>
          <p:cNvPr id="7" name="Picture 6" descr="A wreath of flags with text&#10;&#10;Description automatically generated">
            <a:extLst>
              <a:ext uri="{FF2B5EF4-FFF2-40B4-BE49-F238E27FC236}">
                <a16:creationId xmlns:a16="http://schemas.microsoft.com/office/drawing/2014/main" id="{EAFEF0A8-4752-9E60-EF4F-6FD273FDF15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1147" y="55953"/>
            <a:ext cx="590853" cy="540953"/>
          </a:xfrm>
          <a:prstGeom prst="rect">
            <a:avLst/>
          </a:prstGeom>
        </p:spPr>
      </p:pic>
      <p:pic>
        <p:nvPicPr>
          <p:cNvPr id="8" name="Picture 7" descr="A wreath of flags with text&#10;&#10;Description automatically generated">
            <a:extLst>
              <a:ext uri="{FF2B5EF4-FFF2-40B4-BE49-F238E27FC236}">
                <a16:creationId xmlns:a16="http://schemas.microsoft.com/office/drawing/2014/main" id="{08C4473A-99CD-165C-40BF-2B5DA67378B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6233" y="55953"/>
            <a:ext cx="590565" cy="54095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51D6F88-DF74-8DF0-39A3-CB34EFE50F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413" y="157507"/>
            <a:ext cx="9290050" cy="38677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A3C5A52-403C-9BAF-0AAA-B06FB2BCC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81072" y="0"/>
            <a:ext cx="1019656" cy="190053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date/month/year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77428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216" y="6598599"/>
            <a:ext cx="2743200" cy="249385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+mn-lt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760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red and black logo&#10;&#10;Description automatically generated">
            <a:extLst>
              <a:ext uri="{FF2B5EF4-FFF2-40B4-BE49-F238E27FC236}">
                <a16:creationId xmlns:a16="http://schemas.microsoft.com/office/drawing/2014/main" id="{9A75E878-EBA0-AF09-81B8-F51F960C43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2076" y="194549"/>
            <a:ext cx="872930" cy="263759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FB04FB3-3387-2254-D275-CE3BAAAFDB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1525" y="903288"/>
            <a:ext cx="10326262" cy="5379177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lang="ja-JP" altLang="en-US" sz="1400" b="1" smtClean="0"/>
            </a:lvl1pPr>
            <a:lvl2pPr algn="l">
              <a:defRPr lang="ja-JP" altLang="en-US" smtClean="0"/>
            </a:lvl2pPr>
            <a:lvl3pPr algn="l">
              <a:defRPr lang="ja-JP" altLang="en-US" smtClean="0"/>
            </a:lvl3pPr>
            <a:lvl4pPr algn="l">
              <a:defRPr lang="ja-JP" altLang="en-US" smtClean="0"/>
            </a:lvl4pPr>
            <a:lvl5pPr algn="l">
              <a:defRPr lang="en-FI" dirty="0"/>
            </a:lvl5pPr>
          </a:lstStyle>
          <a:p>
            <a:pPr lvl="0">
              <a:spcBef>
                <a:spcPts val="1200"/>
              </a:spcBef>
            </a:pPr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FI" dirty="0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68EBCC2-DE68-0A41-ABBD-03657480AA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412" y="157507"/>
            <a:ext cx="10972377" cy="38677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533096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3889" name="Rectangle 17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0" y="0"/>
          <a:ext cx="195385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0" imgH="0" progId="TCLayout.ActiveDocument.1">
                  <p:embed/>
                </p:oleObj>
              </mc:Choice>
              <mc:Fallback>
                <p:oleObj r:id="rId3" imgW="0" imgH="0" progId="TCLayout.ActiveDocument.1">
                  <p:embed/>
                  <p:pic>
                    <p:nvPicPr>
                      <p:cNvPr id="463889" name="Rectangle 17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95385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図 8">
            <a:extLst>
              <a:ext uri="{FF2B5EF4-FFF2-40B4-BE49-F238E27FC236}">
                <a16:creationId xmlns:a16="http://schemas.microsoft.com/office/drawing/2014/main" id="{608D8F37-8FB0-2129-87CB-C75DE7AFAB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83" y="195004"/>
            <a:ext cx="1585994" cy="516370"/>
          </a:xfrm>
          <a:prstGeom prst="rect">
            <a:avLst/>
          </a:prstGeom>
          <a:ln>
            <a:noFill/>
          </a:ln>
        </p:spPr>
      </p:pic>
      <p:pic>
        <p:nvPicPr>
          <p:cNvPr id="4" name="Picture 2" descr="A red and black logo&#10;&#10;Description automatically generated">
            <a:extLst>
              <a:ext uri="{FF2B5EF4-FFF2-40B4-BE49-F238E27FC236}">
                <a16:creationId xmlns:a16="http://schemas.microsoft.com/office/drawing/2014/main" id="{DA247201-79B9-0948-5170-CC77414911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012" y="194549"/>
            <a:ext cx="1585994" cy="479214"/>
          </a:xfrm>
          <a:prstGeom prst="rect">
            <a:avLst/>
          </a:prstGeom>
        </p:spPr>
      </p:pic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7F6B8345-BBBC-1B7A-5290-6FEB9FF4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216" y="6598599"/>
            <a:ext cx="2743200" cy="24938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+mj-lt"/>
                <a:ea typeface="Meiryo UI" panose="020B0604030504040204" pitchFamily="50" charset="-128"/>
              </a:defRPr>
            </a:lvl1pPr>
          </a:lstStyle>
          <a:p>
            <a:fld id="{1B5E06C8-4CCE-445E-BB25-07CA23AD9097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0064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23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5" r:id="rId19"/>
    <p:sldLayoutId id="2147483698" r:id="rId20"/>
    <p:sldLayoutId id="2147483666" r:id="rId21"/>
    <p:sldLayoutId id="2147483668" r:id="rId22"/>
    <p:sldLayoutId id="2147483669" r:id="rId23"/>
    <p:sldLayoutId id="2147483671" r:id="rId24"/>
    <p:sldLayoutId id="2147483661" r:id="rId25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l" defTabSz="736882" rtl="0" eaLnBrk="1" latinLnBrk="0" hangingPunct="1">
        <a:lnSpc>
          <a:spcPct val="90000"/>
        </a:lnSpc>
        <a:spcBef>
          <a:spcPct val="0"/>
        </a:spcBef>
        <a:buNone/>
        <a:defRPr sz="438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736882" rtl="0" eaLnBrk="1" fontAlgn="auto" latinLnBrk="0" hangingPunct="1">
        <a:lnSpc>
          <a:spcPct val="100000"/>
        </a:lnSpc>
        <a:spcBef>
          <a:spcPts val="403"/>
        </a:spcBef>
        <a:spcAft>
          <a:spcPts val="0"/>
        </a:spcAft>
        <a:buClrTx/>
        <a:buSzPct val="100000"/>
        <a:buFontTx/>
        <a:buNone/>
        <a:tabLst/>
        <a:defRPr sz="813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363411" rtl="0" eaLnBrk="1" latinLnBrk="0" hangingPunct="1">
        <a:lnSpc>
          <a:spcPct val="100000"/>
        </a:lnSpc>
        <a:spcBef>
          <a:spcPts val="403"/>
        </a:spcBef>
        <a:buSzPct val="100000"/>
        <a:buFontTx/>
        <a:buNone/>
        <a:defRPr sz="2275" b="1" kern="1200" baseline="0">
          <a:solidFill>
            <a:schemeClr val="tx1"/>
          </a:solidFill>
          <a:latin typeface="+mj-lt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363411" rtl="0" eaLnBrk="1" latinLnBrk="0" hangingPunct="1">
        <a:lnSpc>
          <a:spcPct val="150000"/>
        </a:lnSpc>
        <a:spcBef>
          <a:spcPts val="403"/>
        </a:spcBef>
        <a:buSzPct val="100000"/>
        <a:buFontTx/>
        <a:buNone/>
        <a:defRPr sz="815" kern="1200" baseline="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0" indent="0" algn="l" defTabSz="736882" rtl="0" eaLnBrk="1" latinLnBrk="0" hangingPunct="1">
        <a:lnSpc>
          <a:spcPct val="100000"/>
        </a:lnSpc>
        <a:spcBef>
          <a:spcPts val="403"/>
        </a:spcBef>
        <a:buSzPct val="100000"/>
        <a:buFontTx/>
        <a:buNone/>
        <a:defRPr sz="1463" b="1" kern="1200">
          <a:solidFill>
            <a:schemeClr val="tx1"/>
          </a:solidFill>
          <a:latin typeface="+mj-lt"/>
          <a:ea typeface="Open Sans" panose="020B0606030504020204" pitchFamily="34" charset="0"/>
          <a:cs typeface="Open Sans" panose="020B0606030504020204" pitchFamily="34" charset="0"/>
        </a:defRPr>
      </a:lvl4pPr>
      <a:lvl5pPr marL="0" indent="0" algn="l" defTabSz="736882" rtl="0" eaLnBrk="1" latinLnBrk="0" hangingPunct="1">
        <a:lnSpc>
          <a:spcPct val="100000"/>
        </a:lnSpc>
        <a:spcBef>
          <a:spcPts val="403"/>
        </a:spcBef>
        <a:buSzPct val="100000"/>
        <a:buFontTx/>
        <a:buNone/>
        <a:defRPr sz="975" b="1" kern="1200" baseline="0">
          <a:solidFill>
            <a:schemeClr val="tx1"/>
          </a:solidFill>
          <a:latin typeface="+mj-lt"/>
          <a:ea typeface="Open Sans" panose="020B0606030504020204" pitchFamily="34" charset="0"/>
          <a:cs typeface="Open Sans" panose="020B0606030504020204" pitchFamily="34" charset="0"/>
        </a:defRPr>
      </a:lvl5pPr>
      <a:lvl6pPr marL="0" indent="0" algn="l" defTabSz="736882" rtl="0" eaLnBrk="1" latinLnBrk="0" hangingPunct="1">
        <a:lnSpc>
          <a:spcPct val="100000"/>
        </a:lnSpc>
        <a:spcBef>
          <a:spcPts val="403"/>
        </a:spcBef>
        <a:buFontTx/>
        <a:buNone/>
        <a:defRPr sz="731" b="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6pPr>
      <a:lvl7pPr marL="0" indent="0" algn="l" defTabSz="736882" rtl="0" eaLnBrk="1" latinLnBrk="0" hangingPunct="1">
        <a:lnSpc>
          <a:spcPct val="100000"/>
        </a:lnSpc>
        <a:spcBef>
          <a:spcPts val="403"/>
        </a:spcBef>
        <a:buFontTx/>
        <a:buNone/>
        <a:defRPr sz="650" b="0" kern="1200" baseline="0">
          <a:solidFill>
            <a:schemeClr val="tx1">
              <a:alpha val="50000"/>
            </a:schemeClr>
          </a:solidFill>
          <a:latin typeface="+mn-lt"/>
          <a:ea typeface="+mn-ea"/>
          <a:cs typeface="+mn-cs"/>
        </a:defRPr>
      </a:lvl7pPr>
      <a:lvl8pPr marL="0" marR="0" indent="0" algn="l" defTabSz="736882" rtl="0" eaLnBrk="1" fontAlgn="auto" latinLnBrk="0" hangingPunct="1">
        <a:lnSpc>
          <a:spcPct val="90000"/>
        </a:lnSpc>
        <a:spcBef>
          <a:spcPts val="403"/>
        </a:spcBef>
        <a:spcAft>
          <a:spcPts val="0"/>
        </a:spcAft>
        <a:buClrTx/>
        <a:buSzTx/>
        <a:buFontTx/>
        <a:buNone/>
        <a:tabLst/>
        <a:defRPr sz="652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5494" indent="0" algn="l" defTabSz="736882" rtl="0" eaLnBrk="1" latinLnBrk="0" hangingPunct="1">
        <a:lnSpc>
          <a:spcPct val="90000"/>
        </a:lnSpc>
        <a:spcBef>
          <a:spcPts val="403"/>
        </a:spcBef>
        <a:buFont typeface="Arial" panose="020B0604020202020204" pitchFamily="34" charset="0"/>
        <a:buNone/>
        <a:defRPr sz="14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6882" rtl="0" eaLnBrk="1" latinLnBrk="0" hangingPunct="1">
        <a:defRPr sz="1451" kern="1200">
          <a:solidFill>
            <a:schemeClr val="tx1"/>
          </a:solidFill>
          <a:latin typeface="+mn-lt"/>
          <a:ea typeface="+mn-ea"/>
          <a:cs typeface="+mn-cs"/>
        </a:defRPr>
      </a:lvl1pPr>
      <a:lvl2pPr marL="368441" algn="l" defTabSz="736882" rtl="0" eaLnBrk="1" latinLnBrk="0" hangingPunct="1">
        <a:defRPr sz="1451" kern="1200">
          <a:solidFill>
            <a:schemeClr val="tx1"/>
          </a:solidFill>
          <a:latin typeface="+mn-lt"/>
          <a:ea typeface="+mn-ea"/>
          <a:cs typeface="+mn-cs"/>
        </a:defRPr>
      </a:lvl2pPr>
      <a:lvl3pPr marL="736882" algn="l" defTabSz="736882" rtl="0" eaLnBrk="1" latinLnBrk="0" hangingPunct="1">
        <a:defRPr sz="1451" kern="1200">
          <a:solidFill>
            <a:schemeClr val="tx1"/>
          </a:solidFill>
          <a:latin typeface="+mn-lt"/>
          <a:ea typeface="+mn-ea"/>
          <a:cs typeface="+mn-cs"/>
        </a:defRPr>
      </a:lvl3pPr>
      <a:lvl4pPr marL="1105323" algn="l" defTabSz="736882" rtl="0" eaLnBrk="1" latinLnBrk="0" hangingPunct="1">
        <a:defRPr sz="1451" kern="1200">
          <a:solidFill>
            <a:schemeClr val="tx1"/>
          </a:solidFill>
          <a:latin typeface="+mn-lt"/>
          <a:ea typeface="+mn-ea"/>
          <a:cs typeface="+mn-cs"/>
        </a:defRPr>
      </a:lvl4pPr>
      <a:lvl5pPr marL="1473765" algn="l" defTabSz="736882" rtl="0" eaLnBrk="1" latinLnBrk="0" hangingPunct="1">
        <a:defRPr sz="1451" kern="1200">
          <a:solidFill>
            <a:schemeClr val="tx1"/>
          </a:solidFill>
          <a:latin typeface="+mn-lt"/>
          <a:ea typeface="+mn-ea"/>
          <a:cs typeface="+mn-cs"/>
        </a:defRPr>
      </a:lvl5pPr>
      <a:lvl6pPr marL="1842205" algn="l" defTabSz="736882" rtl="0" eaLnBrk="1" latinLnBrk="0" hangingPunct="1">
        <a:defRPr sz="1451" kern="1200">
          <a:solidFill>
            <a:schemeClr val="tx1"/>
          </a:solidFill>
          <a:latin typeface="+mn-lt"/>
          <a:ea typeface="+mn-ea"/>
          <a:cs typeface="+mn-cs"/>
        </a:defRPr>
      </a:lvl6pPr>
      <a:lvl7pPr marL="2210647" algn="l" defTabSz="736882" rtl="0" eaLnBrk="1" latinLnBrk="0" hangingPunct="1">
        <a:defRPr sz="1451" kern="1200">
          <a:solidFill>
            <a:schemeClr val="tx1"/>
          </a:solidFill>
          <a:latin typeface="+mn-lt"/>
          <a:ea typeface="+mn-ea"/>
          <a:cs typeface="+mn-cs"/>
        </a:defRPr>
      </a:lvl7pPr>
      <a:lvl8pPr marL="2579088" algn="l" defTabSz="736882" rtl="0" eaLnBrk="1" latinLnBrk="0" hangingPunct="1">
        <a:defRPr sz="1451" kern="1200">
          <a:solidFill>
            <a:schemeClr val="tx1"/>
          </a:solidFill>
          <a:latin typeface="+mn-lt"/>
          <a:ea typeface="+mn-ea"/>
          <a:cs typeface="+mn-cs"/>
        </a:defRPr>
      </a:lvl8pPr>
      <a:lvl9pPr marL="2947529" algn="l" defTabSz="736882" rtl="0" eaLnBrk="1" latinLnBrk="0" hangingPunct="1">
        <a:defRPr sz="14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-race.com/formula-1/a-joke-mercedes-slams-f1-proposal-for-major-2026-engine-changes/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5" Type="http://schemas.openxmlformats.org/officeDocument/2006/relationships/hyperlink" Target="https://www.the-race.com/formula-1/williams-first-f1-team-to-make-crucial-2026-development-step/" TargetMode="External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racingnews365.com/saudi-arabia-set-sights-on-f1-team-ownershi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52A1-1847-60C7-2814-B29871D34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DEC0401-FF81-21C2-2184-99D096CB79C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638" y="2151136"/>
            <a:ext cx="3948310" cy="1656170"/>
          </a:xfrm>
          <a:prstGeom prst="rect">
            <a:avLst/>
          </a:prstGeom>
        </p:spPr>
      </p:pic>
      <p:sp>
        <p:nvSpPr>
          <p:cNvPr id="43" name="Titre 42">
            <a:extLst>
              <a:ext uri="{FF2B5EF4-FFF2-40B4-BE49-F238E27FC236}">
                <a16:creationId xmlns:a16="http://schemas.microsoft.com/office/drawing/2014/main" id="{8FC9947F-171F-4F2E-6DA0-75EF81AD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13" y="394620"/>
            <a:ext cx="11000856" cy="406168"/>
          </a:xfrm>
          <a:noFill/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b="1" dirty="0">
                <a:latin typeface="+mn-lt"/>
                <a:ea typeface="Meiryo UI" panose="020B0604030504040204" pitchFamily="50" charset="-128"/>
              </a:rPr>
              <a:t>Mercedes Criticizes Proposed Adjustments to 2026 F1 Engine Regulations</a:t>
            </a:r>
            <a:endParaRPr lang="en-US" sz="2000" b="1" dirty="0">
              <a:latin typeface="+mn-lt"/>
              <a:ea typeface="Meiryo UI" panose="020B0604030504040204" pitchFamily="50" charset="-128"/>
            </a:endParaRPr>
          </a:p>
        </p:txBody>
      </p:sp>
      <p:sp>
        <p:nvSpPr>
          <p:cNvPr id="105" name="スライド番号プレースホルダー 5">
            <a:extLst>
              <a:ext uri="{FF2B5EF4-FFF2-40B4-BE49-F238E27FC236}">
                <a16:creationId xmlns:a16="http://schemas.microsoft.com/office/drawing/2014/main" id="{E30C9293-54B9-A2E0-F1B0-E7229322AE28}"/>
              </a:ext>
            </a:extLst>
          </p:cNvPr>
          <p:cNvSpPr txBox="1">
            <a:spLocks/>
          </p:cNvSpPr>
          <p:nvPr/>
        </p:nvSpPr>
        <p:spPr>
          <a:xfrm>
            <a:off x="9448216" y="6598599"/>
            <a:ext cx="2743200" cy="24938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j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E06C8-4CCE-445E-BB25-07CA23AD9097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107" name="Rectangle 1">
            <a:extLst>
              <a:ext uri="{FF2B5EF4-FFF2-40B4-BE49-F238E27FC236}">
                <a16:creationId xmlns:a16="http://schemas.microsoft.com/office/drawing/2014/main" id="{063146B0-96B3-4AFD-5398-14E89C150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var(--fontFamilyBase)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" name="Rectangle 2">
            <a:extLst>
              <a:ext uri="{FF2B5EF4-FFF2-40B4-BE49-F238E27FC236}">
                <a16:creationId xmlns:a16="http://schemas.microsoft.com/office/drawing/2014/main" id="{84792874-7858-3F11-E4C9-CC2F8C5AC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27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-apple-system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B778B3-2B99-2774-5D76-2A2E6FDBF436}"/>
              </a:ext>
            </a:extLst>
          </p:cNvPr>
          <p:cNvSpPr/>
          <p:nvPr/>
        </p:nvSpPr>
        <p:spPr>
          <a:xfrm>
            <a:off x="156190" y="87943"/>
            <a:ext cx="2012011" cy="29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FF0000"/>
                </a:solidFill>
              </a:rPr>
              <a:t>REGULATIONS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D3950-970B-89F8-C7A1-2967005DE240}"/>
              </a:ext>
            </a:extLst>
          </p:cNvPr>
          <p:cNvSpPr/>
          <p:nvPr/>
        </p:nvSpPr>
        <p:spPr>
          <a:xfrm>
            <a:off x="5041127" y="1260608"/>
            <a:ext cx="1363163" cy="216839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SUMMARY</a:t>
            </a:r>
            <a:br>
              <a:rPr lang="en-GB" sz="1400" b="1" dirty="0">
                <a:solidFill>
                  <a:srgbClr val="FF0000"/>
                </a:solidFill>
              </a:rPr>
            </a:br>
            <a:r>
              <a:rPr lang="en-GB" sz="1400" b="1" dirty="0">
                <a:solidFill>
                  <a:srgbClr val="FF0000"/>
                </a:solidFill>
              </a:rPr>
              <a:t>&amp;</a:t>
            </a:r>
          </a:p>
          <a:p>
            <a:pPr algn="ctr"/>
            <a:r>
              <a:rPr lang="en-GB" sz="1400" b="1" dirty="0">
                <a:solidFill>
                  <a:srgbClr val="FF0000"/>
                </a:solidFill>
              </a:rPr>
              <a:t>RELEVANT </a:t>
            </a:r>
            <a:br>
              <a:rPr lang="en-GB" sz="1400" b="1" dirty="0">
                <a:solidFill>
                  <a:srgbClr val="FF0000"/>
                </a:solidFill>
              </a:rPr>
            </a:br>
            <a:r>
              <a:rPr lang="en-GB" sz="1400" b="1" dirty="0">
                <a:solidFill>
                  <a:srgbClr val="FF0000"/>
                </a:solidFill>
              </a:rPr>
              <a:t>INFORMATION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7968AB-9661-ED3C-6D4B-302008F2DA7A}"/>
              </a:ext>
            </a:extLst>
          </p:cNvPr>
          <p:cNvSpPr/>
          <p:nvPr/>
        </p:nvSpPr>
        <p:spPr>
          <a:xfrm>
            <a:off x="5041127" y="3550098"/>
            <a:ext cx="1363163" cy="216839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IMPLICATIONS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8D4CD6-9AE0-7B4C-FE17-A43CD14B4A8C}"/>
              </a:ext>
            </a:extLst>
          </p:cNvPr>
          <p:cNvSpPr/>
          <p:nvPr/>
        </p:nvSpPr>
        <p:spPr>
          <a:xfrm>
            <a:off x="5041127" y="5839588"/>
            <a:ext cx="1363163" cy="6467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CREDIBILITY</a:t>
            </a: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A5A52F69-2960-6E36-B13A-673F57665B07}"/>
              </a:ext>
            </a:extLst>
          </p:cNvPr>
          <p:cNvSpPr/>
          <p:nvPr/>
        </p:nvSpPr>
        <p:spPr>
          <a:xfrm>
            <a:off x="6838122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6FB712B4-AE77-E34E-E5FF-AE2D79C8FF50}"/>
              </a:ext>
            </a:extLst>
          </p:cNvPr>
          <p:cNvSpPr/>
          <p:nvPr/>
        </p:nvSpPr>
        <p:spPr>
          <a:xfrm>
            <a:off x="7222576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D7701B1C-4EC7-A089-203D-09CE884AE876}"/>
              </a:ext>
            </a:extLst>
          </p:cNvPr>
          <p:cNvSpPr/>
          <p:nvPr/>
        </p:nvSpPr>
        <p:spPr>
          <a:xfrm>
            <a:off x="7607030" y="5987332"/>
            <a:ext cx="294198" cy="294198"/>
          </a:xfrm>
          <a:prstGeom prst="star5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43BD9D-8878-1774-AFE1-C01483395C66}"/>
              </a:ext>
            </a:extLst>
          </p:cNvPr>
          <p:cNvSpPr/>
          <p:nvPr/>
        </p:nvSpPr>
        <p:spPr>
          <a:xfrm>
            <a:off x="6432218" y="1260608"/>
            <a:ext cx="5319681" cy="2168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chemeClr val="tx1"/>
                </a:solidFill>
              </a:rPr>
              <a:t>Mercedes has strongly opposed proposed changes to the 2026 F1 engine regulations, labeling them a "joke."​</a:t>
            </a:r>
          </a:p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chemeClr val="tx1"/>
                </a:solidFill>
              </a:rPr>
              <a:t>The proposals aim to adjust the 50/50 power split between internal combustion engines and electric power during races.​</a:t>
            </a:r>
          </a:p>
          <a:p>
            <a:pPr>
              <a:spcBef>
                <a:spcPts val="600"/>
              </a:spcBef>
            </a:pPr>
            <a:r>
              <a:rPr lang="en-GB" altLang="ja-JP" sz="1400" dirty="0">
                <a:solidFill>
                  <a:schemeClr val="tx1"/>
                </a:solidFill>
              </a:rPr>
              <a:t>----- relevant Information -----</a:t>
            </a:r>
          </a:p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altLang="ja-JP" sz="1400" dirty="0" err="1">
                <a:solidFill>
                  <a:schemeClr val="tx1"/>
                </a:solidFill>
              </a:rPr>
              <a:t>While Mercedes opposes these changes, other teams like McLaren are open to discussions to ensure the success of the 2026 regulations.​</a:t>
            </a:r>
          </a:p>
        </p:txBody>
      </p:sp>
      <p:sp>
        <p:nvSpPr>
          <p:cNvPr id="15" name="ZoneTexte 4">
            <a:extLst>
              <a:ext uri="{FF2B5EF4-FFF2-40B4-BE49-F238E27FC236}">
                <a16:creationId xmlns:a16="http://schemas.microsoft.com/office/drawing/2014/main" id="{7DDB1727-AC6C-35E1-3B82-57ACE8FD4C28}"/>
              </a:ext>
            </a:extLst>
          </p:cNvPr>
          <p:cNvSpPr txBox="1"/>
          <p:nvPr/>
        </p:nvSpPr>
        <p:spPr>
          <a:xfrm>
            <a:off x="6146" y="6618656"/>
            <a:ext cx="81318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strike="noStrike" dirty="0">
                <a:effectLst/>
                <a:latin typeface="+mj-lt"/>
              </a:rPr>
              <a:t>Source: </a:t>
            </a:r>
            <a:r>
              <a:rPr lang="fr-FR" sz="1000" b="0" i="0" strike="noStrike" dirty="0">
                <a:effectLst/>
                <a:latin typeface="+mj-lt"/>
                <a:hlinkClick r:id="rId3"/>
              </a:rPr>
              <a:t>https://www.the-race.com/formula-1/a-joke-mercedes-slams-f1-proposal-for-major-2026-engine-changes/</a:t>
            </a:r>
            <a:endParaRPr lang="en-US" sz="1000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82B850-8314-A4C4-EEA6-A342C34BF978}"/>
              </a:ext>
            </a:extLst>
          </p:cNvPr>
          <p:cNvSpPr/>
          <p:nvPr/>
        </p:nvSpPr>
        <p:spPr>
          <a:xfrm>
            <a:off x="6432217" y="3561349"/>
            <a:ext cx="5319681" cy="2168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Mercedes' strong opposition to altering the 2026 engine regulations underscores potential instability in F1's technical direction.​</a:t>
            </a:r>
          </a:p>
          <a:p>
            <a:pPr marL="446088" lvl="1" indent="-271463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altLang="ja-JP" sz="1400" dirty="0">
                <a:solidFill>
                  <a:schemeClr val="tx1"/>
                </a:solidFill>
              </a:rPr>
              <a:t>Such instability could deter OEMs seeking a predictable investment environment.​</a:t>
            </a:r>
          </a:p>
          <a:p>
            <a:pPr marL="446088" lvl="1" indent="-271463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altLang="ja-JP" sz="1400" dirty="0">
                <a:solidFill>
                  <a:schemeClr val="tx1"/>
                </a:solidFill>
              </a:rPr>
              <a:t>Divergent views among teams on regulatory changes may signal a lack of consensus, increasing the risk for new entrants concerned about shifting competitive dynamics.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BE3B35-E2EF-AB69-496F-D7B8D7ED9B36}"/>
              </a:ext>
            </a:extLst>
          </p:cNvPr>
          <p:cNvSpPr/>
          <p:nvPr/>
        </p:nvSpPr>
        <p:spPr>
          <a:xfrm>
            <a:off x="8674871" y="5839588"/>
            <a:ext cx="1363163" cy="6467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RELEVANCY</a:t>
            </a:r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AE0D7DE1-4799-4BB2-4289-1CF43F35CE90}"/>
              </a:ext>
            </a:extLst>
          </p:cNvPr>
          <p:cNvSpPr/>
          <p:nvPr/>
        </p:nvSpPr>
        <p:spPr>
          <a:xfrm>
            <a:off x="10408256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59262AF6-4856-B08E-2B33-759E3D76EB4B}"/>
              </a:ext>
            </a:extLst>
          </p:cNvPr>
          <p:cNvSpPr/>
          <p:nvPr/>
        </p:nvSpPr>
        <p:spPr>
          <a:xfrm>
            <a:off x="10792710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DCA99266-329E-7614-18F5-324664C0D3B5}"/>
              </a:ext>
            </a:extLst>
          </p:cNvPr>
          <p:cNvSpPr/>
          <p:nvPr/>
        </p:nvSpPr>
        <p:spPr>
          <a:xfrm>
            <a:off x="11177164" y="5987332"/>
            <a:ext cx="294198" cy="294198"/>
          </a:xfrm>
          <a:prstGeom prst="star5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8E2E2C-8F31-E5FF-82E1-5816E08A47A1}"/>
              </a:ext>
            </a:extLst>
          </p:cNvPr>
          <p:cNvSpPr txBox="1"/>
          <p:nvPr/>
        </p:nvSpPr>
        <p:spPr>
          <a:xfrm>
            <a:off x="3549488" y="1266686"/>
            <a:ext cx="9284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20/04/2025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8986290-D110-3BE9-660F-A7EE5463221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637" y="938735"/>
            <a:ext cx="1567207" cy="326501"/>
          </a:xfrm>
          <a:prstGeom prst="rect">
            <a:avLst/>
          </a:prstGeom>
        </p:spPr>
      </p:pic>
      <p:pic>
        <p:nvPicPr>
          <p:cNvPr id="5" name="図 4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01F4D0A-222A-E317-4603-FFE81058432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598" y="1521378"/>
            <a:ext cx="4246389" cy="533977"/>
          </a:xfrm>
          <a:prstGeom prst="rect">
            <a:avLst/>
          </a:prstGeom>
        </p:spPr>
      </p:pic>
      <p:pic>
        <p:nvPicPr>
          <p:cNvPr id="20" name="図 19" descr="グラフィカル ユーザー インターフェイス, 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17ECB13-3270-683C-AE6F-45F9344EEEF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953" y="5439703"/>
            <a:ext cx="3948310" cy="615854"/>
          </a:xfrm>
          <a:prstGeom prst="rect">
            <a:avLst/>
          </a:prstGeom>
        </p:spPr>
      </p:pic>
      <p:pic>
        <p:nvPicPr>
          <p:cNvPr id="27" name="図 26" descr="ゲーム機のリモコンを操作している男性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568169F-1C38-BC5D-66CA-FE8A1893DB4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"/>
          <a:stretch/>
        </p:blipFill>
        <p:spPr>
          <a:xfrm>
            <a:off x="532249" y="3807306"/>
            <a:ext cx="3943014" cy="163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8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D0D9F-8756-884C-0EF6-DBA84F7B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図 33" descr="テキスト, 手紙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E21B9DD-0685-5D58-4DF3-0DE4C856FDF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379" y="2069642"/>
            <a:ext cx="4153255" cy="1667321"/>
          </a:xfrm>
          <a:prstGeom prst="rect">
            <a:avLst/>
          </a:prstGeom>
        </p:spPr>
      </p:pic>
      <p:pic>
        <p:nvPicPr>
          <p:cNvPr id="5" name="図 4" descr="テキスト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E9B3C7B-B414-48B7-7C4E-9A5E812D1C0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786" y="1528297"/>
            <a:ext cx="4153255" cy="546656"/>
          </a:xfrm>
          <a:prstGeom prst="rect">
            <a:avLst/>
          </a:prstGeom>
        </p:spPr>
      </p:pic>
      <p:sp>
        <p:nvSpPr>
          <p:cNvPr id="105" name="スライド番号プレースホルダー 5">
            <a:extLst>
              <a:ext uri="{FF2B5EF4-FFF2-40B4-BE49-F238E27FC236}">
                <a16:creationId xmlns:a16="http://schemas.microsoft.com/office/drawing/2014/main" id="{FBBD9DE5-96BC-7F6C-0CEB-5CC94BB0D89B}"/>
              </a:ext>
            </a:extLst>
          </p:cNvPr>
          <p:cNvSpPr txBox="1">
            <a:spLocks/>
          </p:cNvSpPr>
          <p:nvPr/>
        </p:nvSpPr>
        <p:spPr>
          <a:xfrm>
            <a:off x="9448216" y="6598599"/>
            <a:ext cx="2743200" cy="24938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j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E06C8-4CCE-445E-BB25-07CA23AD9097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107" name="Rectangle 1">
            <a:extLst>
              <a:ext uri="{FF2B5EF4-FFF2-40B4-BE49-F238E27FC236}">
                <a16:creationId xmlns:a16="http://schemas.microsoft.com/office/drawing/2014/main" id="{08CA2016-6519-7EC6-57A3-72AD7CB6B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var(--fontFamilyBase)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" name="Rectangle 2">
            <a:extLst>
              <a:ext uri="{FF2B5EF4-FFF2-40B4-BE49-F238E27FC236}">
                <a16:creationId xmlns:a16="http://schemas.microsoft.com/office/drawing/2014/main" id="{48582690-42D9-BFB5-0430-247CEAD54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27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-apple-system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C5B24A-ADED-81BF-359B-3A4C592DB8E5}"/>
              </a:ext>
            </a:extLst>
          </p:cNvPr>
          <p:cNvSpPr/>
          <p:nvPr/>
        </p:nvSpPr>
        <p:spPr>
          <a:xfrm>
            <a:off x="156190" y="87943"/>
            <a:ext cx="2012011" cy="29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COMPETITIVE MOVE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3A9BDF-8651-3237-5E3B-579CC7245F9E}"/>
              </a:ext>
            </a:extLst>
          </p:cNvPr>
          <p:cNvSpPr/>
          <p:nvPr/>
        </p:nvSpPr>
        <p:spPr>
          <a:xfrm>
            <a:off x="5041127" y="1260608"/>
            <a:ext cx="1363163" cy="216839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SUMMARY</a:t>
            </a:r>
            <a:br>
              <a:rPr lang="en-GB" sz="1400" b="1" dirty="0">
                <a:solidFill>
                  <a:srgbClr val="FF0000"/>
                </a:solidFill>
              </a:rPr>
            </a:br>
            <a:r>
              <a:rPr lang="en-GB" sz="1400" b="1" dirty="0">
                <a:solidFill>
                  <a:srgbClr val="FF0000"/>
                </a:solidFill>
              </a:rPr>
              <a:t>&amp;</a:t>
            </a:r>
          </a:p>
          <a:p>
            <a:pPr algn="ctr"/>
            <a:r>
              <a:rPr lang="en-GB" sz="1400" b="1" dirty="0">
                <a:solidFill>
                  <a:srgbClr val="FF0000"/>
                </a:solidFill>
              </a:rPr>
              <a:t>RELEVANT </a:t>
            </a:r>
            <a:br>
              <a:rPr lang="en-GB" sz="1400" b="1" dirty="0">
                <a:solidFill>
                  <a:srgbClr val="FF0000"/>
                </a:solidFill>
              </a:rPr>
            </a:br>
            <a:r>
              <a:rPr lang="en-GB" sz="1400" b="1" dirty="0">
                <a:solidFill>
                  <a:srgbClr val="FF0000"/>
                </a:solidFill>
              </a:rPr>
              <a:t>INFORMATION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6BD90-B670-3546-B062-1F7C2DEF1888}"/>
              </a:ext>
            </a:extLst>
          </p:cNvPr>
          <p:cNvSpPr/>
          <p:nvPr/>
        </p:nvSpPr>
        <p:spPr>
          <a:xfrm>
            <a:off x="5041127" y="3550098"/>
            <a:ext cx="1363163" cy="216839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IMPLICATIONS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16F07F-98C2-0105-FBA8-9D9F4CA0FB71}"/>
              </a:ext>
            </a:extLst>
          </p:cNvPr>
          <p:cNvSpPr/>
          <p:nvPr/>
        </p:nvSpPr>
        <p:spPr>
          <a:xfrm>
            <a:off x="5041127" y="5839588"/>
            <a:ext cx="1363163" cy="6467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CREDIBILITY</a:t>
            </a: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6650EB1F-821E-0DED-608D-E715C6B9D967}"/>
              </a:ext>
            </a:extLst>
          </p:cNvPr>
          <p:cNvSpPr/>
          <p:nvPr/>
        </p:nvSpPr>
        <p:spPr>
          <a:xfrm>
            <a:off x="6838122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C9DBE84E-E624-2251-BAB1-57D35DEE52B0}"/>
              </a:ext>
            </a:extLst>
          </p:cNvPr>
          <p:cNvSpPr/>
          <p:nvPr/>
        </p:nvSpPr>
        <p:spPr>
          <a:xfrm>
            <a:off x="7222576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9471EC5C-C160-CCDA-B367-04CCE0BEC0D2}"/>
              </a:ext>
            </a:extLst>
          </p:cNvPr>
          <p:cNvSpPr/>
          <p:nvPr/>
        </p:nvSpPr>
        <p:spPr>
          <a:xfrm>
            <a:off x="7607030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DE1A21-B38E-832A-C42D-3DA9F3268B89}"/>
              </a:ext>
            </a:extLst>
          </p:cNvPr>
          <p:cNvSpPr/>
          <p:nvPr/>
        </p:nvSpPr>
        <p:spPr>
          <a:xfrm>
            <a:off x="6432218" y="1260608"/>
            <a:ext cx="5319681" cy="2168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chemeClr val="tx1"/>
                </a:solidFill>
              </a:rPr>
              <a:t>Williams has ceased wind tunnel development of its 2025 car to focus entirely on the 2026 regulations.​</a:t>
            </a:r>
          </a:p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chemeClr val="tx1"/>
                </a:solidFill>
              </a:rPr>
              <a:t>Team principal James Vowles emphasizes long-term investment over short-term gains.​</a:t>
            </a:r>
          </a:p>
          <a:p>
            <a:pPr>
              <a:spcBef>
                <a:spcPts val="600"/>
              </a:spcBef>
            </a:pPr>
            <a:r>
              <a:rPr lang="en-GB" altLang="ja-JP" sz="1400" dirty="0">
                <a:solidFill>
                  <a:schemeClr val="tx1"/>
                </a:solidFill>
              </a:rPr>
              <a:t>----- relevant Information -----</a:t>
            </a:r>
          </a:p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altLang="ja-JP" sz="1400" dirty="0">
                <a:solidFill>
                  <a:schemeClr val="tx1"/>
                </a:solidFill>
              </a:rPr>
              <a:t>Williams aims to establish structures and processes critical for future competitiveness.​ And the decision aligns with a five-year investment strategy agreed upon with Dorilton Capital.​</a:t>
            </a:r>
          </a:p>
        </p:txBody>
      </p:sp>
      <p:sp>
        <p:nvSpPr>
          <p:cNvPr id="15" name="ZoneTexte 4">
            <a:extLst>
              <a:ext uri="{FF2B5EF4-FFF2-40B4-BE49-F238E27FC236}">
                <a16:creationId xmlns:a16="http://schemas.microsoft.com/office/drawing/2014/main" id="{0ECB75C5-1362-8EB7-75FC-78C82E5D62FB}"/>
              </a:ext>
            </a:extLst>
          </p:cNvPr>
          <p:cNvSpPr txBox="1"/>
          <p:nvPr/>
        </p:nvSpPr>
        <p:spPr>
          <a:xfrm>
            <a:off x="6146" y="6618656"/>
            <a:ext cx="81318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strike="noStrike" dirty="0">
                <a:effectLst/>
                <a:latin typeface="+mj-lt"/>
              </a:rPr>
              <a:t>Source: </a:t>
            </a:r>
            <a:r>
              <a:rPr lang="fr-FR" sz="1000" b="0" i="0" strike="noStrike" dirty="0">
                <a:effectLst/>
                <a:latin typeface="+mj-lt"/>
                <a:hlinkClick r:id="rId5"/>
              </a:rPr>
              <a:t>https://www.the-race.com/formula-1/williams-first-f1-team-to-make-crucial-2026-development-step/</a:t>
            </a:r>
            <a:endParaRPr lang="en-US" sz="1000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ED46B-5620-F3F4-93C1-893690FD7ECE}"/>
              </a:ext>
            </a:extLst>
          </p:cNvPr>
          <p:cNvSpPr/>
          <p:nvPr/>
        </p:nvSpPr>
        <p:spPr>
          <a:xfrm>
            <a:off x="6432217" y="3561349"/>
            <a:ext cx="5319681" cy="2168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Williams' early shift to focus entirely on the 2026 regulations demonstrates a strategic long-term investment.​</a:t>
            </a:r>
          </a:p>
          <a:p>
            <a:pPr marL="446088" lvl="1" indent="-271463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altLang="ja-JP" sz="1400" dirty="0">
                <a:solidFill>
                  <a:schemeClr val="tx1"/>
                </a:solidFill>
              </a:rPr>
              <a:t>This approach may allow them to capitalize on the regulatory overhaul and improve future competitiveness.</a:t>
            </a:r>
          </a:p>
          <a:p>
            <a:pPr marL="446088" lvl="1" indent="-271463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altLang="ja-JP" sz="1400" dirty="0">
                <a:solidFill>
                  <a:schemeClr val="tx1"/>
                </a:solidFill>
              </a:rPr>
              <a:t>The move indicates that Williams is not for sale, at least not 100%, which might align with Toyota's 51% plan.​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386530-6C86-7116-613A-E0DBFAE563F5}"/>
              </a:ext>
            </a:extLst>
          </p:cNvPr>
          <p:cNvSpPr/>
          <p:nvPr/>
        </p:nvSpPr>
        <p:spPr>
          <a:xfrm>
            <a:off x="8674871" y="5839588"/>
            <a:ext cx="1363163" cy="6467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RELEVANCY</a:t>
            </a:r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6149D243-29E7-10D1-4770-A977A92E796F}"/>
              </a:ext>
            </a:extLst>
          </p:cNvPr>
          <p:cNvSpPr/>
          <p:nvPr/>
        </p:nvSpPr>
        <p:spPr>
          <a:xfrm>
            <a:off x="10408256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09081817-FA99-7BC6-2951-AB057CD02AAB}"/>
              </a:ext>
            </a:extLst>
          </p:cNvPr>
          <p:cNvSpPr/>
          <p:nvPr/>
        </p:nvSpPr>
        <p:spPr>
          <a:xfrm>
            <a:off x="10792710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35F298F4-253B-3A2D-C8AE-ACD68510CE2D}"/>
              </a:ext>
            </a:extLst>
          </p:cNvPr>
          <p:cNvSpPr/>
          <p:nvPr/>
        </p:nvSpPr>
        <p:spPr>
          <a:xfrm>
            <a:off x="11177164" y="5987332"/>
            <a:ext cx="294198" cy="294198"/>
          </a:xfrm>
          <a:prstGeom prst="star5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810B1D-4894-D05F-0E15-BAC8C9B089D4}"/>
              </a:ext>
            </a:extLst>
          </p:cNvPr>
          <p:cNvSpPr txBox="1"/>
          <p:nvPr/>
        </p:nvSpPr>
        <p:spPr>
          <a:xfrm>
            <a:off x="3549488" y="1266686"/>
            <a:ext cx="9284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19/04/2025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667B6970-7E97-B237-959C-4FBB991DBB8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637" y="938735"/>
            <a:ext cx="1567207" cy="326501"/>
          </a:xfrm>
          <a:prstGeom prst="rect">
            <a:avLst/>
          </a:prstGeom>
        </p:spPr>
      </p:pic>
      <p:sp>
        <p:nvSpPr>
          <p:cNvPr id="27" name="Titre 42">
            <a:extLst>
              <a:ext uri="{FF2B5EF4-FFF2-40B4-BE49-F238E27FC236}">
                <a16:creationId xmlns:a16="http://schemas.microsoft.com/office/drawing/2014/main" id="{59184A0C-2003-FFC7-635D-E5913631A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13" y="394620"/>
            <a:ext cx="11000856" cy="406168"/>
          </a:xfrm>
          <a:noFill/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 b="1" dirty="0">
                <a:latin typeface="+mn-lt"/>
                <a:ea typeface="Meiryo UI" panose="020B0604030504040204" pitchFamily="50" charset="-128"/>
              </a:rPr>
              <a:t>Williams Prioritizes 2026 Development, Signaling Long-Term Commitment</a:t>
            </a:r>
            <a:endParaRPr lang="en-US" sz="2000" b="1" dirty="0">
              <a:latin typeface="+mn-lt"/>
              <a:ea typeface="Meiryo UI" panose="020B0604030504040204" pitchFamily="50" charset="-128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E99FD1-340D-810B-DC94-56305810DCDA}"/>
              </a:ext>
            </a:extLst>
          </p:cNvPr>
          <p:cNvSpPr/>
          <p:nvPr/>
        </p:nvSpPr>
        <p:spPr>
          <a:xfrm>
            <a:off x="2543482" y="87943"/>
            <a:ext cx="2012011" cy="29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PERFORMANCE</a:t>
            </a:r>
          </a:p>
        </p:txBody>
      </p:sp>
      <p:pic>
        <p:nvPicPr>
          <p:cNvPr id="32" name="図 31" descr="レースカーのcg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88B67D2-9F5A-D8C4-0968-D44E0FC6E9E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896" y="3725210"/>
            <a:ext cx="4144941" cy="1604493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DEF8D736-3CAC-27F4-9863-82F760AA56D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537" y="5378229"/>
            <a:ext cx="4052410" cy="322209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F943302E-2A63-F83F-784A-8D86FDE66E2D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949" y="5729740"/>
            <a:ext cx="4124544" cy="35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38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F6D20-5569-E8F4-8706-821586B2F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AD7F5E8-A849-7C20-F0D5-8BF00AB761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6161" y="926375"/>
            <a:ext cx="1683210" cy="430838"/>
          </a:xfrm>
          <a:prstGeom prst="rect">
            <a:avLst/>
          </a:prstGeom>
        </p:spPr>
      </p:pic>
      <p:sp>
        <p:nvSpPr>
          <p:cNvPr id="43" name="Titre 42">
            <a:extLst>
              <a:ext uri="{FF2B5EF4-FFF2-40B4-BE49-F238E27FC236}">
                <a16:creationId xmlns:a16="http://schemas.microsoft.com/office/drawing/2014/main" id="{A0E26FB1-99A7-E4B8-268C-CD492784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13" y="394620"/>
            <a:ext cx="11000856" cy="406168"/>
          </a:xfrm>
          <a:noFill/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>
                <a:latin typeface="+mn-lt"/>
                <a:ea typeface="Meiryo UI" panose="020B0604030504040204" pitchFamily="50" charset="-128"/>
              </a:rPr>
              <a:t>Saudi Arabia Explores Formula 1 Team Ownership to Expand Motorsport Presence</a:t>
            </a:r>
          </a:p>
        </p:txBody>
      </p:sp>
      <p:sp>
        <p:nvSpPr>
          <p:cNvPr id="105" name="スライド番号プレースホルダー 5">
            <a:extLst>
              <a:ext uri="{FF2B5EF4-FFF2-40B4-BE49-F238E27FC236}">
                <a16:creationId xmlns:a16="http://schemas.microsoft.com/office/drawing/2014/main" id="{F9F4F2D4-9653-ABD5-B1BA-FF381189FA7C}"/>
              </a:ext>
            </a:extLst>
          </p:cNvPr>
          <p:cNvSpPr txBox="1">
            <a:spLocks/>
          </p:cNvSpPr>
          <p:nvPr/>
        </p:nvSpPr>
        <p:spPr>
          <a:xfrm>
            <a:off x="9448216" y="6598599"/>
            <a:ext cx="2743200" cy="24938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/>
                </a:solidFill>
                <a:latin typeface="+mj-lt"/>
                <a:ea typeface="Meiryo UI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E06C8-4CCE-445E-BB25-07CA23AD9097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107" name="Rectangle 1">
            <a:extLst>
              <a:ext uri="{FF2B5EF4-FFF2-40B4-BE49-F238E27FC236}">
                <a16:creationId xmlns:a16="http://schemas.microsoft.com/office/drawing/2014/main" id="{8C6992D5-45B6-9158-A018-72169A2FB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var(--fontFamilyBase)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" name="Rectangle 2">
            <a:extLst>
              <a:ext uri="{FF2B5EF4-FFF2-40B4-BE49-F238E27FC236}">
                <a16:creationId xmlns:a16="http://schemas.microsoft.com/office/drawing/2014/main" id="{1BA2F951-AB38-694A-E987-311AED518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27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-apple-system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DF7771-BC8F-A66E-3D74-E4CAD1C92E1E}"/>
              </a:ext>
            </a:extLst>
          </p:cNvPr>
          <p:cNvSpPr/>
          <p:nvPr/>
        </p:nvSpPr>
        <p:spPr>
          <a:xfrm>
            <a:off x="156190" y="87943"/>
            <a:ext cx="2012011" cy="29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M&amp;A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E5F25-5169-C648-BADD-21604C563C42}"/>
              </a:ext>
            </a:extLst>
          </p:cNvPr>
          <p:cNvSpPr/>
          <p:nvPr/>
        </p:nvSpPr>
        <p:spPr>
          <a:xfrm>
            <a:off x="5041127" y="1260608"/>
            <a:ext cx="1363163" cy="216839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SUMMARY</a:t>
            </a:r>
            <a:br>
              <a:rPr lang="en-GB" sz="1400" b="1" dirty="0">
                <a:solidFill>
                  <a:srgbClr val="FF0000"/>
                </a:solidFill>
              </a:rPr>
            </a:br>
            <a:r>
              <a:rPr lang="en-GB" sz="1400" b="1" dirty="0">
                <a:solidFill>
                  <a:srgbClr val="FF0000"/>
                </a:solidFill>
              </a:rPr>
              <a:t>&amp;</a:t>
            </a:r>
          </a:p>
          <a:p>
            <a:pPr algn="ctr"/>
            <a:r>
              <a:rPr lang="en-GB" sz="1400" b="1" dirty="0">
                <a:solidFill>
                  <a:srgbClr val="FF0000"/>
                </a:solidFill>
              </a:rPr>
              <a:t>RELEVANT </a:t>
            </a:r>
            <a:br>
              <a:rPr lang="en-GB" sz="1400" b="1" dirty="0">
                <a:solidFill>
                  <a:srgbClr val="FF0000"/>
                </a:solidFill>
              </a:rPr>
            </a:br>
            <a:r>
              <a:rPr lang="en-GB" sz="1400" b="1" dirty="0">
                <a:solidFill>
                  <a:srgbClr val="FF0000"/>
                </a:solidFill>
              </a:rPr>
              <a:t>INFORMATION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F32BE2-0299-0B84-14CA-1D72E7F44B13}"/>
              </a:ext>
            </a:extLst>
          </p:cNvPr>
          <p:cNvSpPr/>
          <p:nvPr/>
        </p:nvSpPr>
        <p:spPr>
          <a:xfrm>
            <a:off x="5041127" y="3550098"/>
            <a:ext cx="1363163" cy="216839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IMPLICATIONS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BB61DC-97DB-AFF8-455E-70E37A5E2074}"/>
              </a:ext>
            </a:extLst>
          </p:cNvPr>
          <p:cNvSpPr/>
          <p:nvPr/>
        </p:nvSpPr>
        <p:spPr>
          <a:xfrm>
            <a:off x="5041127" y="5839588"/>
            <a:ext cx="1363163" cy="6467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CREDIBILITY</a:t>
            </a: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41CC7B7F-6E19-F762-7F05-C55933E7CF8E}"/>
              </a:ext>
            </a:extLst>
          </p:cNvPr>
          <p:cNvSpPr/>
          <p:nvPr/>
        </p:nvSpPr>
        <p:spPr>
          <a:xfrm>
            <a:off x="6838122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EB16D84F-8A3E-C14E-B268-469E5999EF02}"/>
              </a:ext>
            </a:extLst>
          </p:cNvPr>
          <p:cNvSpPr/>
          <p:nvPr/>
        </p:nvSpPr>
        <p:spPr>
          <a:xfrm>
            <a:off x="7222576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1A49AC45-B616-A6FD-7DCB-FC7D5B638313}"/>
              </a:ext>
            </a:extLst>
          </p:cNvPr>
          <p:cNvSpPr/>
          <p:nvPr/>
        </p:nvSpPr>
        <p:spPr>
          <a:xfrm>
            <a:off x="7607030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8641E1-E74B-3393-7744-4C47FA0B0E30}"/>
              </a:ext>
            </a:extLst>
          </p:cNvPr>
          <p:cNvSpPr/>
          <p:nvPr/>
        </p:nvSpPr>
        <p:spPr>
          <a:xfrm>
            <a:off x="6432218" y="1260608"/>
            <a:ext cx="5319681" cy="2168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chemeClr val="tx1"/>
                </a:solidFill>
              </a:rPr>
              <a:t>Saudi Arabia is considering acquiring or establishing a Formula 1 team, building upon its existing investments in the sport.​</a:t>
            </a:r>
          </a:p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chemeClr val="tx1"/>
                </a:solidFill>
              </a:rPr>
              <a:t>Prince Khalid bin Sultan Al-Abdullah Al-Faisal indicated that the Public Investment Fund (PIF) is evaluating this move to deepen the kingdom's involvement in F1.​</a:t>
            </a:r>
          </a:p>
          <a:p>
            <a:pPr>
              <a:spcBef>
                <a:spcPts val="600"/>
              </a:spcBef>
            </a:pPr>
            <a:r>
              <a:rPr lang="en-GB" altLang="ja-JP" sz="1400" dirty="0">
                <a:solidFill>
                  <a:schemeClr val="tx1"/>
                </a:solidFill>
              </a:rPr>
              <a:t>----- relevant Information -----</a:t>
            </a:r>
          </a:p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altLang="ja-JP" sz="1400" dirty="0" err="1">
                <a:solidFill>
                  <a:schemeClr val="tx1"/>
                </a:solidFill>
              </a:rPr>
              <a:t>WState-owned petroleum company Aramco is a global partner of F1 and a title sponsor of the Aston Martin team.</a:t>
            </a:r>
          </a:p>
        </p:txBody>
      </p:sp>
      <p:sp>
        <p:nvSpPr>
          <p:cNvPr id="15" name="ZoneTexte 4">
            <a:extLst>
              <a:ext uri="{FF2B5EF4-FFF2-40B4-BE49-F238E27FC236}">
                <a16:creationId xmlns:a16="http://schemas.microsoft.com/office/drawing/2014/main" id="{D9D9C0E7-6DF1-E793-9C84-9DD43ABE2551}"/>
              </a:ext>
            </a:extLst>
          </p:cNvPr>
          <p:cNvSpPr txBox="1"/>
          <p:nvPr/>
        </p:nvSpPr>
        <p:spPr>
          <a:xfrm>
            <a:off x="6146" y="6618656"/>
            <a:ext cx="81318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strike="noStrike" dirty="0">
                <a:effectLst/>
                <a:latin typeface="+mj-lt"/>
              </a:rPr>
              <a:t>Source: </a:t>
            </a:r>
            <a:r>
              <a:rPr lang="fr-FR" sz="1000" b="0" i="0" strike="noStrike" dirty="0">
                <a:effectLst/>
                <a:latin typeface="+mj-lt"/>
                <a:hlinkClick r:id="rId4"/>
              </a:rPr>
              <a:t>https://racingnews365.com/saudi-arabia-set-sights-on-f1-team-ownership</a:t>
            </a:r>
            <a:endParaRPr lang="en-US" sz="1000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EC5905-5A95-0BED-0CF0-DACCFB38AA0B}"/>
              </a:ext>
            </a:extLst>
          </p:cNvPr>
          <p:cNvSpPr/>
          <p:nvPr/>
        </p:nvSpPr>
        <p:spPr>
          <a:xfrm>
            <a:off x="6432217" y="3561349"/>
            <a:ext cx="5637863" cy="2168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82563" indent="-1825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altLang="ja-JP" sz="1400" dirty="0">
                <a:solidFill>
                  <a:schemeClr val="tx1"/>
                </a:solidFill>
              </a:rPr>
              <a:t>Saudi Arabia's exploration of F1 team ownership reflects its ambition to deepen involvement in the sport.​</a:t>
            </a:r>
          </a:p>
          <a:p>
            <a:pPr marL="446088" lvl="1" indent="-271463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altLang="ja-JP" sz="1400" dirty="0">
                <a:solidFill>
                  <a:schemeClr val="tx1"/>
                </a:solidFill>
              </a:rPr>
              <a:t>This move could escalate financial commitments required for competitive participation, potentially impacting the dynamics of team ownership and investment in F1.​</a:t>
            </a:r>
          </a:p>
          <a:p>
            <a:pPr marL="446088" lvl="1" indent="-271463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altLang="ja-JP" sz="1400" dirty="0">
                <a:solidFill>
                  <a:schemeClr val="tx1"/>
                </a:solidFill>
              </a:rPr>
              <a:t>The involvement of state-backed entities like PIF may influence the financial landscape of F1, affecting both existing teams and prospective entrants.​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F4BF73-EC38-02AD-CB2E-E1597E95936A}"/>
              </a:ext>
            </a:extLst>
          </p:cNvPr>
          <p:cNvSpPr/>
          <p:nvPr/>
        </p:nvSpPr>
        <p:spPr>
          <a:xfrm>
            <a:off x="8674871" y="5839588"/>
            <a:ext cx="1363163" cy="6467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RELEVANCY</a:t>
            </a:r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9995CE29-FF2F-6CF1-2F97-D30BB9A16C24}"/>
              </a:ext>
            </a:extLst>
          </p:cNvPr>
          <p:cNvSpPr/>
          <p:nvPr/>
        </p:nvSpPr>
        <p:spPr>
          <a:xfrm>
            <a:off x="10408256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16711B21-CE66-99E8-4BDA-6D462647B866}"/>
              </a:ext>
            </a:extLst>
          </p:cNvPr>
          <p:cNvSpPr/>
          <p:nvPr/>
        </p:nvSpPr>
        <p:spPr>
          <a:xfrm>
            <a:off x="10792710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D8A1D4DB-A8A9-4B62-B6E0-C1C1396BE866}"/>
              </a:ext>
            </a:extLst>
          </p:cNvPr>
          <p:cNvSpPr/>
          <p:nvPr/>
        </p:nvSpPr>
        <p:spPr>
          <a:xfrm>
            <a:off x="11177164" y="5987332"/>
            <a:ext cx="294198" cy="294198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B6BEEA6-FCB1-28C4-E7BA-783400D9E18F}"/>
              </a:ext>
            </a:extLst>
          </p:cNvPr>
          <p:cNvSpPr txBox="1"/>
          <p:nvPr/>
        </p:nvSpPr>
        <p:spPr>
          <a:xfrm>
            <a:off x="3549488" y="1266686"/>
            <a:ext cx="9284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15/04/2025</a:t>
            </a:r>
          </a:p>
        </p:txBody>
      </p:sp>
      <p:pic>
        <p:nvPicPr>
          <p:cNvPr id="5" name="図 4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DE3F19D-F14D-3CDA-5A7F-18437521568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159" y="1525589"/>
            <a:ext cx="4294251" cy="609446"/>
          </a:xfrm>
          <a:prstGeom prst="rect">
            <a:avLst/>
          </a:prstGeom>
        </p:spPr>
      </p:pic>
      <p:pic>
        <p:nvPicPr>
          <p:cNvPr id="19" name="図 18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CB1A81C-5125-4A26-0E4F-DD0629D3D7E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357" y="3540435"/>
            <a:ext cx="4294250" cy="836410"/>
          </a:xfrm>
          <a:prstGeom prst="rect">
            <a:avLst/>
          </a:prstGeom>
        </p:spPr>
      </p:pic>
      <p:pic>
        <p:nvPicPr>
          <p:cNvPr id="28" name="図 27" descr="道路を走っているレースカー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12A7392-CF88-E441-FC32-7E9FE73EE9B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159" y="2135035"/>
            <a:ext cx="4294250" cy="1406620"/>
          </a:xfrm>
          <a:prstGeom prst="rect">
            <a:avLst/>
          </a:prstGeom>
        </p:spPr>
      </p:pic>
      <p:pic>
        <p:nvPicPr>
          <p:cNvPr id="31" name="図 30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C7C0078-4395-D5B9-F774-39E1D9BBC60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159" y="4441822"/>
            <a:ext cx="4294250" cy="1593341"/>
          </a:xfrm>
          <a:prstGeom prst="rect">
            <a:avLst/>
          </a:prstGeom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80306F6-9D07-4DE7-7C75-B499E9C39235}"/>
              </a:ext>
            </a:extLst>
          </p:cNvPr>
          <p:cNvSpPr txBox="1"/>
          <p:nvPr/>
        </p:nvSpPr>
        <p:spPr>
          <a:xfrm>
            <a:off x="6275672" y="-154004"/>
            <a:ext cx="0" cy="0"/>
          </a:xfrm>
          <a:prstGeom prst="rect">
            <a:avLst/>
          </a:prstGeom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endParaRPr kumimoji="1" lang="ja-JP" altLang="en-US" sz="1400" b="1" dirty="0">
              <a:solidFill>
                <a:schemeClr val="tx1">
                  <a:lumMod val="75000"/>
                  <a:lumOff val="25000"/>
                  <a:alpha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9432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ikohin">
  <a:themeElements>
    <a:clrScheme name="ALTEZZA_Red">
      <a:dk1>
        <a:srgbClr val="000000"/>
      </a:dk1>
      <a:lt1>
        <a:srgbClr val="FFFFFF"/>
      </a:lt1>
      <a:dk2>
        <a:srgbClr val="7A5B58"/>
      </a:dk2>
      <a:lt2>
        <a:srgbClr val="E7E6E6"/>
      </a:lt2>
      <a:accent1>
        <a:srgbClr val="FE341B"/>
      </a:accent1>
      <a:accent2>
        <a:srgbClr val="FED6D1"/>
      </a:accent2>
      <a:accent3>
        <a:srgbClr val="FEADA3"/>
      </a:accent3>
      <a:accent4>
        <a:srgbClr val="FE8576"/>
      </a:accent4>
      <a:accent5>
        <a:srgbClr val="D11700"/>
      </a:accent5>
      <a:accent6>
        <a:srgbClr val="8B0F00"/>
      </a:accent6>
      <a:hlink>
        <a:srgbClr val="48A1FA"/>
      </a:hlink>
      <a:folHlink>
        <a:srgbClr val="C490AA"/>
      </a:folHlink>
    </a:clrScheme>
    <a:fontScheme name="Montserrat_Roboto">
      <a:majorFont>
        <a:latin typeface="Montserrat"/>
        <a:ea typeface=""/>
        <a:cs typeface=""/>
      </a:majorFont>
      <a:minorFont>
        <a:latin typeface="Roboto"/>
        <a:ea typeface=""/>
        <a:cs typeface=""/>
      </a:minorFont>
    </a:fontScheme>
    <a:fmtScheme name="Дымчатое стекло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1"/>
          </a:solidFill>
        </a:ln>
      </a:spPr>
      <a:bodyPr wrap="square" lIns="90000" rtlCol="0" anchor="t">
        <a:noAutofit/>
      </a:bodyPr>
      <a:lstStyle>
        <a:defPPr marL="171450" indent="-171450" algn="l">
          <a:spcBef>
            <a:spcPts val="600"/>
          </a:spcBef>
          <a:buFont typeface="Arial" panose="020B0604020202020204" pitchFamily="34" charset="0"/>
          <a:buChar char="•"/>
          <a:defRPr sz="1200" b="1"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spDef>
    <a:txDef>
      <a:spPr/>
      <a:bodyPr wrap="none" lIns="0" tIns="0" rIns="0" bIns="0" rtlCol="0" anchor="ctr" anchorCtr="0">
        <a:noAutofit/>
      </a:bodyPr>
      <a:lstStyle>
        <a:defPPr algn="l">
          <a:defRPr sz="1400" b="1" dirty="0" smtClean="0">
            <a:solidFill>
              <a:schemeClr val="tx1">
                <a:lumMod val="75000"/>
                <a:lumOff val="25000"/>
                <a:alpha val="80000"/>
              </a:schemeClr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hikohin" id="{FCB05295-6551-F944-96D2-D1FC25FCB262}" vid="{474DB682-5039-9445-BFE4-B3FA4494CE4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69902</TotalTime>
  <Words>485</Words>
  <Application>Microsoft Macintosh PowerPoint</Application>
  <PresentationFormat>Widescreen</PresentationFormat>
  <Paragraphs>60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Brown</vt:lpstr>
      <vt:lpstr>Calibri</vt:lpstr>
      <vt:lpstr>Montserrat</vt:lpstr>
      <vt:lpstr>Montserrat SemiBold</vt:lpstr>
      <vt:lpstr>Verdana</vt:lpstr>
      <vt:lpstr>Wingdings</vt:lpstr>
      <vt:lpstr>Shikohin</vt:lpstr>
      <vt:lpstr>think-cell Slide</vt:lpstr>
      <vt:lpstr>TCLayout.ActiveDocument.1</vt:lpstr>
      <vt:lpstr>Mercedes Criticizes Proposed Adjustments to 2026 F1 Engine Regulations</vt:lpstr>
      <vt:lpstr>Williams Prioritizes 2026 Development, Signaling Long-Term Commitment</vt:lpstr>
      <vt:lpstr>Saudi Arabia Explores Formula 1 Team Ownership to Expand Motorsport Presence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Bizen, Hitoshi/備前 仁志</dc:creator>
  <cp:lastModifiedBy>Mridul Malani</cp:lastModifiedBy>
  <cp:revision>499</cp:revision>
  <cp:lastPrinted>2025-01-24T08:10:51Z</cp:lastPrinted>
  <dcterms:created xsi:type="dcterms:W3CDTF">2023-03-14T03:42:44Z</dcterms:created>
  <dcterms:modified xsi:type="dcterms:W3CDTF">2026-03-13T15:45:39Z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2023-08-18T14:18:46Z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84ac0187-421a-4052-afee-07cb794520c9</vt:lpwstr>
  </property>
  <property fmtid="{D5CDD505-2E9C-101B-9397-08002B2CF9AE}" pid="7" name="MSIP_Label_defa4170-0d19-0005-0004-bc88714345d2_ActionId">
    <vt:lpwstr>8fa32972-5895-4430-bb92-fecdbf1520a0</vt:lpwstr>
  </property>
  <property fmtid="{D5CDD505-2E9C-101B-9397-08002B2CF9AE}" pid="8" name="MSIP_Label_defa4170-0d19-0005-0004-bc88714345d2_ContentBits">
    <vt:lpwstr>0</vt:lpwstr>
  </property>
</Properties>
</file>